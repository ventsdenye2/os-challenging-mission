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68" r:id="rId15"/>
    <p:sldId id="274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63" d="100"/>
          <a:sy n="163" d="100"/>
        </p:scale>
        <p:origin x="1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开场先说本项目是在单核 MOS 上做 SMP 扩展，目标不是追求完整商用内核，而是在课程约束下把启动、调度、IPI、TLB、FS 约束跑通。</a:t>
            </a:r>
          </a:p>
          <a:p>
            <a:r>
              <a:t>强调本答辩重点：哪些地方没有照搬教程建议、为什么这样做、关键竞态如何处理。</a:t>
            </a:r>
          </a:p>
          <a:p>
            <a:r>
              <a:t>【可直接朗读】</a:t>
            </a:r>
          </a:p>
          <a:p>
            <a:r>
              <a:t>大家好，我这次汇报的是 MOS 的 SMP 多核移植。简单说，就是把原来偏单核运行的 MOS，改到 QEMU Malta 的两个 vCPU 上，让它能完成启动、调度、IPI 通信和基本用户态工作流。</a:t>
            </a:r>
          </a:p>
          <a:p>
            <a:r>
              <a:t>这一版我不会只讲结果，还会重点讲几个设计取舍：哪些地方和教程建议不一样，为什么这样做，以及遇到竞态之后是怎么一点点修掉的。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这一页只讲边界：任务要求支持至少两核、IPI、SHELL、多核调度、内存同步。</a:t>
            </a:r>
          </a:p>
          <a:p>
            <a:r>
              <a:t>说明 fs_serv 固定 CPU0 不是逃避用户进程多核，而是把真实 IDE/block cache/open table 集中到服务进程，普通用户进程仍能在两个 CPU 上调度并通过 IPC 请求 FS。</a:t>
            </a:r>
          </a:p>
          <a:p>
            <a:r>
              <a:t>【可直接朗读】</a:t>
            </a:r>
          </a:p>
          <a:p>
            <a:r>
              <a:t>这一页先把任务范围说清楚。我们的目标是支持两个 CPU，能够启动 shell，普通用户进程可以被调度到不同 CPU 上，同时要有 IPI 和内存同步相关的处理。</a:t>
            </a:r>
          </a:p>
          <a:p>
            <a:r>
              <a:t>这里有一个工程上的边界：文件系统服务 fs_serv 固定在 CPU0。这样做不是说 CPU1 不能访问文件，而是普通进程通过 IPC 找 fs_serv 办事，这样可以先把块设备这些复杂并发集中起来，保证整体能稳定跑通。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这里要主动承认差异，不要被问到才解释。</a:t>
            </a:r>
          </a:p>
          <a:p>
            <a:r>
              <a:t>整体论点：教程给的是推荐路径而非唯一实现；本实现保留了语义目标，比如 per-CPU 状态、远程函数调用、TLB 同步，只是在 QEMU 和工程复杂度下换了实现方式。</a:t>
            </a:r>
          </a:p>
          <a:p>
            <a:r>
              <a:t>【可直接朗读】</a:t>
            </a:r>
          </a:p>
          <a:p>
            <a:r>
              <a:t>这一页主要说明我们没有完全照着教程路线写。比如教程建议用 gp 寄存器保存每核指针，但我们用的是 cpu_data 数组加 cpu_id()，这样汇编入口和异常路径会简单一些。</a:t>
            </a:r>
          </a:p>
          <a:p>
            <a:r>
              <a:t>我觉得这里最重要的是语义没有变：每个 CPU 还是有自己的当前进程、页目录和调度状态，IPI 也还是完成远程调用和 TLB 同步。只是为了适配 QEMU Malta 和课程内核的复杂度，具体实现方式做了取舍。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教程里从核由主核通过 IPI_START 唤醒。本实现里 QEMU 的从核已经进入统一入口，所以更自然的做法是分流后等待 CPU0 完成基础初始化。</a:t>
            </a:r>
          </a:p>
          <a:p>
            <a:r>
              <a:t>关键点是 CPU1 不清 .bss，否则会破坏 CPU0 已初始化的全局状态；并且每个 CPU 按 CPU ID 计算自己的内核栈。</a:t>
            </a:r>
          </a:p>
          <a:p>
            <a:r>
              <a:t>【可直接朗读】</a:t>
            </a:r>
          </a:p>
          <a:p>
            <a:r>
              <a:t>启动这里的思路是，所有 CPU 都先进同一个 _start，然后根据 EBase 低位判断自己是 CPU0 还是 CPU1。CPU0 负责清 bss、初始化全局状态，CPU1 先等在启动栅栏上。</a:t>
            </a:r>
          </a:p>
          <a:p>
            <a:r>
              <a:t>这个地方有个容易出错的点：从核不能再清一次 bss。因为 bss 是全局共享区，如果 CPU1 后面又清一次，就可能把 CPU0 已经初始化好的锁、队列和状态都清掉，所以从核只等待，等 CPU0 准备好之后再继续。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重点说全局 curenv/cur_pgdir 在 SMP 下不成立，因为两个 CPU 可以同时运行不同 env、使用不同用户页目录。</a:t>
            </a:r>
          </a:p>
          <a:p>
            <a:r>
              <a:t>当前保留了 curenv 旧符号但关键路径改用 cpu_curenv、cpu_cur_pgdir、cpu_kstack_top 等接口。</a:t>
            </a:r>
          </a:p>
          <a:p>
            <a:r>
              <a:t>【可直接朗读】</a:t>
            </a:r>
          </a:p>
          <a:p>
            <a:r>
              <a:t>在单核里，全局的 curenv 和 cur_pgdir 看起来没问题，因为同一时间只有一个 CPU 在跑。但到 SMP 之后，CPU0 和 CPU1 可能正在跑两个不同进程，所以“当前进程”必须变成每核自己的概念。</a:t>
            </a:r>
          </a:p>
          <a:p>
            <a:r>
              <a:t>我们这里没有占用 gp 寄存器，而是通过 cpu_id() 找到 cpu_data[cpu]。这样写性能上可能不是最极致，但是逻辑比较直接，也减少了汇编入口里维护特殊寄存器的负担。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这一页讲 IPI_CALL 的语义：目标 CPU 执行一个函数并通知完成，所以是同步远程函数调用。</a:t>
            </a:r>
          </a:p>
          <a:p>
            <a:r>
              <a:t>等待 ipi_done 的循环里如果本 CPU 收到 IPI，会主动 handle_ipi_irq，这是为了避免双向远程调用时双方互等。</a:t>
            </a:r>
          </a:p>
          <a:p>
            <a:r>
              <a:t>【可直接朗读】</a:t>
            </a:r>
          </a:p>
          <a:p>
            <a:r>
              <a:t>这一页讲 IPI mailbox。可以把它理解成两个 CPU 之间的小信箱：发起方把要执行的函数和参数写进去，然后设置 pending，目标 CPU 收到 IPI 后取出来执行，执行完再把 done 标志写回去。</a:t>
            </a:r>
          </a:p>
          <a:p>
            <a:r>
              <a:t>这里我们做的是同步远程调用，也就是发送方会等目标 CPU 真的执行完。等待的时候还有一个细节：如果本 CPU 也收到了 IPI，就主动处理一下，避免出现两个 CPU 都在等对方、谁也不往前走的情况。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单核只需要本地 tlb_out；SMP 下每个 CPU 都有自己的 TLB，所以页表被 CPU0 改了，CPU1 可能还缓存旧映射。</a:t>
            </a:r>
          </a:p>
          <a:p>
            <a:r>
              <a:t>答辩时一定强调：page_insert/page_remove 在锁内改 PTE 和引用计数，释放 pmap_lock 后再 tlb_invalidate，避免远端 CPU 处理 IPI 时也需要 pmap_lock 造成死锁。</a:t>
            </a:r>
          </a:p>
          <a:p>
            <a:r>
              <a:t>【可直接朗读】</a:t>
            </a:r>
          </a:p>
          <a:p>
            <a:r>
              <a:t>TLB shootdown 是 SMP 里必须处理的问题。单核时改完页表，把本地 TLB 对应项清掉就可以了；但多核时，另一个 CPU 的 TLB 里可能还留着旧映射，所以也要通知它失效。</a:t>
            </a:r>
          </a:p>
          <a:p>
            <a:r>
              <a:t>我们的处理是先在 pmap_lock 里面把 PTE 和引用计数改完，然后释放锁，再做本地和远端的 TLB 失效。这样做是为了避免远端 CPU 处理 IPI 时又想拿同一把锁，最后卡成死锁。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这一页可类比单核调度器的静态 count 在 SMP 下会被两个 CPU 共享干扰，所以移到 cpu_data[cpu].sched_count。</a:t>
            </a:r>
          </a:p>
          <a:p>
            <a:r>
              <a:t>选择 env 时在锁内判断 pinned、kill_pending、running 状态，选中后在锁内写 running/cpu_id，关闭两个 CPU 同时选中同一个 env 的窗口。</a:t>
            </a:r>
          </a:p>
          <a:p>
            <a:r>
              <a:t>【可直接朗读】</a:t>
            </a:r>
          </a:p>
          <a:p>
            <a:r>
              <a:t>调度这块最核心的问题是，一个 env 不能同时被两个 CPU 选中运行。所以我们给 env 加了 running 和 cpu_id 这样的状态，并且用 env_sched_lock 保护全局 runnable 队列。</a:t>
            </a:r>
          </a:p>
          <a:p>
            <a:r>
              <a:t>选进程时会在锁里检查它有没有被固定 CPU、有没有 kill_pending、是不是已经在别的 CPU 上跑。选中之后也在锁里标记 running，这样就把两个 CPU 同时抢到同一个 env 的窗口关掉了。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这是最容易被追问的一页：为什么不能在 IPI handler 中直接 env_free。</a:t>
            </a:r>
          </a:p>
          <a:p>
            <a:r>
              <a:t>答案是 env_free 会释放页表，page_remove 又触发 tlb_invalidate，tlb_invalidate 会再发 IPI。把释放放在 schedule 安全点，可以避免 IPI handler 内出现嵌套 IPI 和 ipi_done 覆盖。</a:t>
            </a:r>
          </a:p>
          <a:p>
            <a:r>
              <a:t>等待远端释放时临时关本 CPU 全局中断，避免 timer 重入调度测试钩子；但循环中仍主动处理 pending IPI，避免别的 IPI 等待死锁。</a:t>
            </a:r>
          </a:p>
          <a:p>
            <a:r>
              <a:t>【可直接朗读】</a:t>
            </a:r>
          </a:p>
          <a:p>
            <a:r>
              <a:t>远端 env 销毁是我认为比较关键的竞态。比如 CPU0 想销毁一个正在 CPU1 上运行的 env，如果 CPU0 直接 free，CPU1 可能还在用它的页表和 trapframe，这就很危险。</a:t>
            </a:r>
          </a:p>
          <a:p>
            <a:r>
              <a:t>所以我们的做法是，发起 CPU 只把它标记成 kill_pending，并通过 IPI poke 一下目标 CPU。真正释放资源放到目标 CPU 自己进入 schedule 的安全点里做，这样释放发生在本地，也避免在 IPI handler 里套娃式地继续发 IPI。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 FS 是本实现的工程约束：fs_serv 固定在 CPU0，普通用户程序仍可多核调度，通过 IPC 请求服务。</a:t>
            </a:r>
          </a:p>
          <a:p>
            <a:r>
              <a:t>IDE PIO 操作顺序性很强，因此用户态 ide_lock 保护完整读写序列，内核 dev syscall 也对 console 和 IDE MMIO 分别加锁。</a:t>
            </a:r>
          </a:p>
          <a:p>
            <a:r>
              <a:t>【可直接朗读】</a:t>
            </a:r>
          </a:p>
          <a:p>
            <a:r>
              <a:t>文件系统和设备这一页主要讲工程取舍。fs_serv 被固定在 CPU0，是为了让文件系统服务和 IDE 设备访问先保持可控，不把问题一下子扩大到所有共享状态都并发。</a:t>
            </a:r>
          </a:p>
          <a:p>
            <a:r>
              <a:t>但这不影响普通用户程序在两个 CPU 上调度。CPU1 上的程序需要读文件时，仍然可以通过 IPC 请求 fs_serv。对于 console 和 IDE 这些直接设备路径，我们也加了锁，保证访问顺序不会乱掉。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这页用于展示实现不是一次写完，而是围绕实际竞态迭代修复。</a:t>
            </a:r>
          </a:p>
          <a:p>
            <a:r>
              <a:t>可以把 lab6_7 当作重点案例：双向远端销毁暴露了 timer reentry 和嵌套 IPI 的问题。</a:t>
            </a:r>
          </a:p>
          <a:p>
            <a:r>
              <a:t>【可直接朗读】</a:t>
            </a:r>
          </a:p>
          <a:p>
            <a:r>
              <a:t>这一页是测试反过来推动修复的几个例子。刚开始能跑起来不代表多核就安全，因为很多竞态只有在两个 CPU 同时操作时才会出现。</a:t>
            </a:r>
          </a:p>
          <a:p>
            <a:r>
              <a:t>比如远端 destroy、IPI handler 里直接 free、等待时被 timer 打断，这些问题都是通过 lab 测试暴露出来的。最后我们把释放放到调度安全点，把等待期间的中断处理收紧，系统才稳定下来。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这一页是现场演示入口之一。先讲默认启动日志，再讲 100 次 IPI 说明 mailbox 和 done 机制没有丢消息。</a:t>
            </a:r>
          </a:p>
          <a:p>
            <a:r>
              <a:t>第二张图用于解释双向 IPI 不是普通单向发送，等待 ipi_done 时仍处理本 CPU pending IPI，是为了避免双方互等。</a:t>
            </a:r>
          </a:p>
          <a:p>
            <a:r>
              <a:t>【可直接朗读】</a:t>
            </a:r>
          </a:p>
          <a:p>
            <a:r>
              <a:t>这一页是验证双核启动和基础 IPI。现场看的重点是日志里要出现 slave online，说明 CPU1 真的上线了，不只是 QEMU 参数里写了两个核。</a:t>
            </a:r>
          </a:p>
          <a:p>
            <a:r>
              <a:t>然后看 100 次 IPI 调用，CPU0 能让 CPU1 执行指定函数，并且 count 能稳定到 100。这个结果说明 mailbox 的参数传递、pending 标志和 done 等待机制基本是可靠的。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这一页是现场演示入口之一。先讲默认启动日志，再讲 100 次 IPI 说明 mailbox 和 done 机制没有丢消息。</a:t>
            </a:r>
          </a:p>
          <a:p>
            <a:r>
              <a:t>第二张图用于解释双向 IPI 不是普通单向发送，等待 ipi_done 时仍处理本 CPU pending IPI，是为了避免双方互等。</a:t>
            </a:r>
          </a:p>
          <a:p>
            <a:r>
              <a:t>【可直接朗读】</a:t>
            </a:r>
          </a:p>
          <a:p>
            <a:r>
              <a:t>这一页是更强一点的 IPI 测试。基础测试主要是 CPU0 调 CPU1，而这里会做双向嵌套，也就是 CPU1 在处理调用时再反过来让 CPU0 做回调。</a:t>
            </a:r>
          </a:p>
          <a:p>
            <a:r>
              <a:t>这个测试的意义是证明等待逻辑没有简单地死等。如果一个 CPU 正在等 done，但自己也收到了 pending IPI，它会先处理掉，所以两个 CPU 不会因为互相等待而卡住。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6261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这一页把“能启动 shell”和“用户进程多核调度”放在一起讲：FS 服务固定 CPU0，但普通用户进程仍可在两个 CPU 上运行。</a:t>
            </a:r>
          </a:p>
          <a:p>
            <a:r>
              <a:t>如果被问 FS 是否完整多核化，可以回到第 10 页：这是工程边界，不是禁止 CPU1 用户进程访问文件。</a:t>
            </a:r>
          </a:p>
          <a:p>
            <a:r>
              <a:t>【可直接朗读】</a:t>
            </a:r>
          </a:p>
          <a:p>
            <a:r>
              <a:t>这一页把多核调度和 shell 放在一起看。调度日志里能看到 CPU0 和 CPU1 都有运行用户进程，说明不是只有主核在干活，从核也进入了 env_run 这些路径。</a:t>
            </a:r>
          </a:p>
          <a:p>
            <a:r>
              <a:t>shell 能跑起来也很重要，因为它会经过文件系统、用户程序、IPC、进程创建和销毁等一整条链路。也就是说，这不只是一个单独的内核小测试，而是用户态工作流也能走通。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这一页把“能启动 shell”和“用户进程多核调度”放在一起讲：FS 服务固定 CPU0，但普通用户进程仍可在两个 CPU 上运行。</a:t>
            </a:r>
          </a:p>
          <a:p>
            <a:r>
              <a:t>如果被问 FS 是否完整多核化，可以回到第 10 页：这是工程边界，不是禁止 CPU1 用户进程访问文件。</a:t>
            </a:r>
          </a:p>
          <a:p>
            <a:r>
              <a:t>【可直接朗读】</a:t>
            </a:r>
          </a:p>
          <a:p>
            <a:r>
              <a:t>这一页主要展示 shell、文件系统和用户程序的实际效果。比如 ls、cat、脚本执行这些命令能正常输出，说明 fs_serv、用户程序加载和基础文件读取都能配合起来。</a:t>
            </a:r>
          </a:p>
          <a:p>
            <a:r>
              <a:t>如果老师问为什么 fs_serv 固定在 CPU0，我会解释这是为了先保证设备和文件系统状态稳定；普通用户程序仍然能在两个 CPU 上跑，需要文件时通过 IPC 访问服务。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93887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这里对应第 9 页的设计图。演示时先说问题：远端 CPU 仍在使用 env 的页表和 Trapframe，因此不能由另一个 CPU 直接 free。</a:t>
            </a:r>
          </a:p>
          <a:p>
            <a:r>
              <a:t>再说修复：kill_pending 标记关闭调度窗口，IPI 只作为 poke，真正释放放在目标 CPU 的调度安全点。</a:t>
            </a:r>
          </a:p>
          <a:p>
            <a:r>
              <a:t>【可直接朗读】</a:t>
            </a:r>
          </a:p>
          <a:p>
            <a:r>
              <a:t>这一页对应前面远端 env 销毁的设计。验证点是：目标 env 如果正在另一个 CPU 上运行，发起销毁的 CPU 不会直接释放它，而是让目标 CPU 到安全点后自己释放。</a:t>
            </a:r>
          </a:p>
          <a:p>
            <a:r>
              <a:t>这样做虽然看起来绕了一步，但能避免很实际的问题：一个 CPU 还在用 env 的页表，另一个 CPU 已经把它释放掉。我们用 kill_pending、IPI poke 和 kill_done 来把这个流程串起来。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这一页来自 SMP_DEVELOPMENT_PLAN.md 的两人分工。讲的时候不要逐文件读，只说明两条主线：杨璞负责让 CPU 和 IPI 基础设施可靠，李昊泽负责把单核共享状态改成多核安全。</a:t>
            </a:r>
          </a:p>
          <a:p>
            <a:r>
              <a:t>最后补一句共同修改区的协作规则：接口先行、分阶段合并、避免大范围格式化。</a:t>
            </a:r>
          </a:p>
          <a:p>
            <a:r>
              <a:t>【可直接朗读】</a:t>
            </a:r>
          </a:p>
          <a:p>
            <a:r>
              <a:t>分工上我们大致分成两条线。杨璞主要负责让两个 CPU 能启动起来，并且把每核状态、异常入口、IPI 和基础锁这些底层设施搭好。</a:t>
            </a:r>
          </a:p>
          <a:p>
            <a:r>
              <a:t>李昊泽主要负责把单核时代的共享状态改成多核安全，比如调度、页表、TLB shootdown、远端 env 生命周期，以及 fs_serv 的 CPU0 绑定策略。共同改的接口文件会先约好声明，再分阶段合并，尽量减少互相冲突。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收尾时把所有点重新扣回任务要求：至少两核、IPI、调度、内存/TLB、文件系统和 shell。</a:t>
            </a:r>
          </a:p>
          <a:p>
            <a:r>
              <a:t>如果被问不足：默认 IPI 是共享内存模拟、pmap_lock 粗粒度、env_free shootdown 没做批量优化，后续可换硬件 IPI、细粒度页表锁或批量 TLB shootdown。</a:t>
            </a:r>
          </a:p>
          <a:p>
            <a:r>
              <a:t>【可直接朗读】</a:t>
            </a:r>
          </a:p>
          <a:p>
            <a:r>
              <a:t>最后总结一下，这次移植完成了两核启动、每核独立状态、IPI 远程调用、TLB shootdown、多核调度，以及 shell 和文件系统的基本工作流。</a:t>
            </a:r>
          </a:p>
          <a:p>
            <a:r>
              <a:t>当然它还有工程边界，比如默认 IPI 是共享内存模拟，pmap_lock 也比较粗，fs_serv 还是固定在 CPU0。我的理解是，这一版先把 SMP 的关键语义和主要竞态跑通，后面再继续做更细的优化。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3C7050B-C67B-4AF2-A07D-8A6FA4772653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8572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buNone/>
              <a:defRPr sz="4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MOS SMP 多核移植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65C42C-2DDA-4BA1-B024-DF8C7D5B3B48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22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实现路线与关键代码</a:t>
            </a:r>
            <a:endParaRPr sz="2250" dirty="0">
              <a:solidFill>
                <a:srgbClr val="64748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465C60D-3E8B-4B9A-AF43-A0951DBDEBEF}"/>
              </a:ext>
            </a:extLst>
          </p:cNvPr>
          <p:cNvSpPr>
            <a:spLocks noGrp="1"/>
          </p:cNvSpPr>
          <p:nvPr/>
        </p:nvSpPr>
        <p:spPr>
          <a:xfrm>
            <a:off x="723900" y="304800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MIPS 24Kc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C02DC3B-41C1-4B46-B4BB-2DDDD305E9B8}"/>
              </a:ext>
            </a:extLst>
          </p:cNvPr>
          <p:cNvSpPr>
            <a:spLocks noGrp="1"/>
          </p:cNvSpPr>
          <p:nvPr/>
        </p:nvSpPr>
        <p:spPr>
          <a:xfrm>
            <a:off x="2343150" y="3048000"/>
            <a:ext cx="1619250" cy="323850"/>
          </a:xfrm>
          <a:prstGeom prst="roundRect">
            <a:avLst>
              <a:gd name="adj" fmla="val 23529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QEMU Malta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7A691DA-290D-4134-9061-63D372CB6E54}"/>
              </a:ext>
            </a:extLst>
          </p:cNvPr>
          <p:cNvSpPr>
            <a:spLocks noGrp="1"/>
          </p:cNvSpPr>
          <p:nvPr/>
        </p:nvSpPr>
        <p:spPr>
          <a:xfrm>
            <a:off x="4152900" y="3048000"/>
            <a:ext cx="1571625" cy="323850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vCPU SMP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4BD5AA-EFDE-4610-A6B2-88B034E82C35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CPU0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947CBE-94EA-4097-B602-4111B04566EF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全局初始化 / 调度启动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AF6D1E-422B-4AC1-91CC-C2329D5B00E3}"/>
              </a:ext>
            </a:extLst>
          </p:cNvPr>
          <p:cNvSpPr>
            <a:spLocks noGrp="1"/>
          </p:cNvSpPr>
          <p:nvPr/>
        </p:nvSpPr>
        <p:spPr>
          <a:xfrm>
            <a:off x="3048000" y="40957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CPU1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6BD965-BDC9-41CF-9BEC-F7291F3C1A5A}"/>
              </a:ext>
            </a:extLst>
          </p:cNvPr>
          <p:cNvSpPr>
            <a:spLocks noGrp="1"/>
          </p:cNvSpPr>
          <p:nvPr/>
        </p:nvSpPr>
        <p:spPr>
          <a:xfrm>
            <a:off x="3048000" y="46291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等待栅栏 / 从核上线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7AE517-1B83-464D-AB77-FFA073244022}"/>
              </a:ext>
            </a:extLst>
          </p:cNvPr>
          <p:cNvSpPr>
            <a:spLocks noGrp="1"/>
          </p:cNvSpPr>
          <p:nvPr/>
        </p:nvSpPr>
        <p:spPr>
          <a:xfrm>
            <a:off x="5372100" y="40957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IPI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98D6D5-AF04-416E-BB54-F6D5D9BFAC77}"/>
              </a:ext>
            </a:extLst>
          </p:cNvPr>
          <p:cNvSpPr>
            <a:spLocks noGrp="1"/>
          </p:cNvSpPr>
          <p:nvPr/>
        </p:nvSpPr>
        <p:spPr>
          <a:xfrm>
            <a:off x="5372100" y="46291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远程函数调用 / TLB 同步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372C6F-04EA-42B0-9013-C893F7E88E8D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3429000" cy="6858000"/>
          </a:xfrm>
          <a:prstGeom prst="rect">
            <a:avLst/>
          </a:prstGeom>
          <a:solidFill>
            <a:srgbClr val="E0F2FE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04E354-0C50-4143-9C92-2238676FFEDB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190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4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SMP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0D6A29-8622-4B6A-A29B-954014725FB6}"/>
              </a:ext>
            </a:extLst>
          </p:cNvPr>
          <p:cNvSpPr>
            <a:spLocks noGrp="1"/>
          </p:cNvSpPr>
          <p:nvPr/>
        </p:nvSpPr>
        <p:spPr>
          <a:xfrm>
            <a:off x="9144000" y="2914650"/>
            <a:ext cx="2476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  <a:buNone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per-CPU 状态</a:t>
            </a:r>
          </a:p>
          <a:p>
            <a:pPr algn="ctr">
              <a:lnSpc>
                <a:spcPct val="125000"/>
              </a:lnSpc>
              <a:buNone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 mailbox</a:t>
            </a:r>
          </a:p>
          <a:p>
            <a:pPr algn="ctr">
              <a:lnSpc>
                <a:spcPct val="125000"/>
              </a:lnSpc>
              <a:buNone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TLB shootdown</a:t>
            </a:r>
          </a:p>
          <a:p>
            <a:pPr algn="ctr">
              <a:lnSpc>
                <a:spcPct val="125000"/>
              </a:lnSpc>
              <a:buNone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远端 env 销毁</a:t>
            </a:r>
          </a:p>
        </p:txBody>
      </p:sp>
    </p:spTree>
    <p:extLst>
      <p:ext uri="{BB962C8B-B14F-4D97-AF65-F5344CB8AC3E}">
        <p14:creationId xmlns:p14="http://schemas.microsoft.com/office/powerpoint/2010/main" val="448398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52D47D63-D979-4B77-AB4A-3FCBD5D2D555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77CB84-DEE5-48DA-A454-1FC831A248EC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任务目标与实现边界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6E4499-10BD-4ED2-A27C-CD2E95F061AA}"/>
              </a:ext>
            </a:extLst>
          </p:cNvPr>
          <p:cNvSpPr>
            <a:spLocks noGrp="1"/>
          </p:cNvSpPr>
          <p:nvPr/>
        </p:nvSpPr>
        <p:spPr>
          <a:xfrm>
            <a:off x="819150" y="18478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40C42A-EEC3-46F0-A879-B12D0390B180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QEMU vCPU：-smp 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34B066-C40C-4ED4-9501-574D2758CF91}"/>
              </a:ext>
            </a:extLst>
          </p:cNvPr>
          <p:cNvSpPr>
            <a:spLocks noGrp="1"/>
          </p:cNvSpPr>
          <p:nvPr/>
        </p:nvSpPr>
        <p:spPr>
          <a:xfrm>
            <a:off x="3200400" y="18478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271D9A-2D5D-4C4B-8D1E-9A039CFCBCE6}"/>
              </a:ext>
            </a:extLst>
          </p:cNvPr>
          <p:cNvSpPr>
            <a:spLocks noGrp="1"/>
          </p:cNvSpPr>
          <p:nvPr/>
        </p:nvSpPr>
        <p:spPr>
          <a:xfrm>
            <a:off x="3200400" y="23812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共享内核镜像</a:t>
            </a:r>
            <a:endParaRPr sz="1500" dirty="0">
              <a:solidFill>
                <a:srgbClr val="64748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09E3E-DF11-41A7-AD6B-949F2EEEDABC}"/>
              </a:ext>
            </a:extLst>
          </p:cNvPr>
          <p:cNvSpPr>
            <a:spLocks noGrp="1"/>
          </p:cNvSpPr>
          <p:nvPr/>
        </p:nvSpPr>
        <p:spPr>
          <a:xfrm>
            <a:off x="5581650" y="18478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1956D7C-C09C-497C-830A-139FCC3BD5DF}"/>
              </a:ext>
            </a:extLst>
          </p:cNvPr>
          <p:cNvSpPr>
            <a:spLocks noGrp="1"/>
          </p:cNvSpPr>
          <p:nvPr/>
        </p:nvSpPr>
        <p:spPr>
          <a:xfrm>
            <a:off x="5581650" y="23812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普通</a:t>
            </a:r>
            <a:r>
              <a:rPr sz="15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env </a:t>
            </a:r>
            <a:r>
              <a:rPr sz="150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多核调度</a:t>
            </a:r>
            <a:endParaRPr sz="1500" dirty="0">
              <a:solidFill>
                <a:srgbClr val="64748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5DCC8C-B393-49CD-BB7A-2A950170F452}"/>
              </a:ext>
            </a:extLst>
          </p:cNvPr>
          <p:cNvSpPr>
            <a:spLocks noGrp="1"/>
          </p:cNvSpPr>
          <p:nvPr/>
        </p:nvSpPr>
        <p:spPr>
          <a:xfrm>
            <a:off x="7962900" y="18478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CPU0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9D4A86-FAA0-455A-BC4C-D36F5E971252}"/>
              </a:ext>
            </a:extLst>
          </p:cNvPr>
          <p:cNvSpPr>
            <a:spLocks noGrp="1"/>
          </p:cNvSpPr>
          <p:nvPr/>
        </p:nvSpPr>
        <p:spPr>
          <a:xfrm>
            <a:off x="7962900" y="23812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fs_serv 固定运行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C74807-6D73-4936-8695-9BE600EBE833}"/>
              </a:ext>
            </a:extLst>
          </p:cNvPr>
          <p:cNvSpPr>
            <a:spLocks noGrp="1"/>
          </p:cNvSpPr>
          <p:nvPr/>
        </p:nvSpPr>
        <p:spPr>
          <a:xfrm>
            <a:off x="952500" y="3695700"/>
            <a:ext cx="9715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marL="24" indent="-14" algn="l">
              <a:lnSpc>
                <a:spcPct val="112000"/>
              </a:lnSpc>
              <a:buNone/>
              <a:defRPr sz="17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已覆盖：</a:t>
            </a:r>
            <a:r>
              <a:rPr sz="17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从核上线、IPI mailbox、TLB shootdown、调度互斥、SHELL</a:t>
            </a:r>
          </a:p>
          <a:p>
            <a:pPr marL="24" indent="-14" algn="l">
              <a:lnSpc>
                <a:spcPct val="112000"/>
              </a:lnSpc>
              <a:buNone/>
              <a:defRPr sz="17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刻意约束：</a:t>
            </a:r>
            <a:r>
              <a:rPr sz="17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文件系统服务固定 CPU0，降低块设备并发复杂度</a:t>
            </a:r>
          </a:p>
          <a:p>
            <a:pPr marL="24" indent="-14" algn="l">
              <a:lnSpc>
                <a:spcPct val="112000"/>
              </a:lnSpc>
              <a:buNone/>
              <a:defRPr sz="17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平台适配：</a:t>
            </a:r>
            <a:r>
              <a:rPr sz="17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默认共享内存模拟 IPI，保留 MMIO 分支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D7211E1-97D2-400D-A4D5-A0C76564EA23}"/>
              </a:ext>
            </a:extLst>
          </p:cNvPr>
          <p:cNvSpPr>
            <a:spLocks noGrp="1"/>
          </p:cNvSpPr>
          <p:nvPr/>
        </p:nvSpPr>
        <p:spPr>
          <a:xfrm>
            <a:off x="990600" y="5124450"/>
            <a:ext cx="7429500" cy="819150"/>
          </a:xfrm>
          <a:prstGeom prst="roundRect">
            <a:avLst>
              <a:gd name="adj" fmla="val 9302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95A057-5687-4AA8-870F-179ACA06B8F4}"/>
              </a:ext>
            </a:extLst>
          </p:cNvPr>
          <p:cNvSpPr>
            <a:spLocks noGrp="1"/>
          </p:cNvSpPr>
          <p:nvPr/>
        </p:nvSpPr>
        <p:spPr>
          <a:xfrm>
            <a:off x="1181100" y="525780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Makefile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75DA2F-2952-40C8-BF7B-E15DB89652C6}"/>
              </a:ext>
            </a:extLst>
          </p:cNvPr>
          <p:cNvSpPr>
            <a:spLocks noGrp="1"/>
          </p:cNvSpPr>
          <p:nvPr/>
        </p:nvSpPr>
        <p:spPr>
          <a:xfrm>
            <a:off x="1181100" y="5562600"/>
            <a:ext cx="704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472B6"/>
                </a:solidFill>
                <a:latin typeface="Cascadia Mono"/>
                <a:ea typeface="Cascadia Mono"/>
                <a:cs typeface="Cascadia Mono"/>
              </a:rPr>
              <a:t>QEMU_FLAGS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+=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smp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2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24Kc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m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64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\</a:t>
            </a:r>
          </a:p>
          <a:p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         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nographic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M malta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no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reboot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E48B81-2C8B-487F-ABFE-2F294EF55D24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293F13-84AD-4B41-9032-83AAEE4F72EC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10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多核移植实现</a:t>
            </a: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/ 02</a:t>
            </a:r>
          </a:p>
        </p:txBody>
      </p:sp>
    </p:spTree>
    <p:extLst>
      <p:ext uri="{BB962C8B-B14F-4D97-AF65-F5344CB8AC3E}">
        <p14:creationId xmlns:p14="http://schemas.microsoft.com/office/powerpoint/2010/main" val="14536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A6AF64C2-09D0-45EA-BE8A-D59262BAAAF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6C58BF-D548-4E5A-B004-CC1CD87576A1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与教程路线的主要差异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63370E-982D-4245-B182-F5EE53F9C5AE}"/>
              </a:ext>
            </a:extLst>
          </p:cNvPr>
          <p:cNvSpPr>
            <a:spLocks noGrp="1"/>
          </p:cNvSpPr>
          <p:nvPr/>
        </p:nvSpPr>
        <p:spPr>
          <a:xfrm>
            <a:off x="800100" y="16954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教程建议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4D9F06-1ECF-46CB-8131-FB448FCC97CC}"/>
              </a:ext>
            </a:extLst>
          </p:cNvPr>
          <p:cNvSpPr>
            <a:spLocks noGrp="1"/>
          </p:cNvSpPr>
          <p:nvPr/>
        </p:nvSpPr>
        <p:spPr>
          <a:xfrm>
            <a:off x="3276600" y="169545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当前实现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C20D5E-12BD-4FE1-A437-8B143C16ED02}"/>
              </a:ext>
            </a:extLst>
          </p:cNvPr>
          <p:cNvSpPr>
            <a:spLocks noGrp="1"/>
          </p:cNvSpPr>
          <p:nvPr/>
        </p:nvSpPr>
        <p:spPr>
          <a:xfrm>
            <a:off x="800100" y="2009775"/>
            <a:ext cx="1036320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FB9FA2-A435-4A51-8B27-9B7867974374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2324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$gp 保存 per-CPU 指针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DDB11D-0F1D-4490-B42B-887FD4006F3E}"/>
              </a:ext>
            </a:extLst>
          </p:cNvPr>
          <p:cNvSpPr>
            <a:spLocks noGrp="1"/>
          </p:cNvSpPr>
          <p:nvPr/>
        </p:nvSpPr>
        <p:spPr>
          <a:xfrm>
            <a:off x="3276600" y="2095500"/>
            <a:ext cx="3276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全局 cpu_data[NR_CPUS] + cpu_id()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D7B504-0334-46A1-B5E2-08418F733AD7}"/>
              </a:ext>
            </a:extLst>
          </p:cNvPr>
          <p:cNvSpPr>
            <a:spLocks noGrp="1"/>
          </p:cNvSpPr>
          <p:nvPr/>
        </p:nvSpPr>
        <p:spPr>
          <a:xfrm>
            <a:off x="6705600" y="2095500"/>
            <a:ext cx="430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不占 ABI 敏感寄存器，入口维护更少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5F5E4C-FB02-4225-93E1-CCA78253483B}"/>
              </a:ext>
            </a:extLst>
          </p:cNvPr>
          <p:cNvSpPr>
            <a:spLocks noGrp="1"/>
          </p:cNvSpPr>
          <p:nvPr/>
        </p:nvSpPr>
        <p:spPr>
          <a:xfrm>
            <a:off x="800100" y="2619375"/>
            <a:ext cx="103632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96AEFF-D2EA-4225-A6DA-835242A21C5E}"/>
              </a:ext>
            </a:extLst>
          </p:cNvPr>
          <p:cNvSpPr>
            <a:spLocks noGrp="1"/>
          </p:cNvSpPr>
          <p:nvPr/>
        </p:nvSpPr>
        <p:spPr>
          <a:xfrm>
            <a:off x="800100" y="2705100"/>
            <a:ext cx="2324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IPI_START 唤醒从核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DC7B4F-D9BB-4F90-A14D-A62278F5E569}"/>
              </a:ext>
            </a:extLst>
          </p:cNvPr>
          <p:cNvSpPr>
            <a:spLocks noGrp="1"/>
          </p:cNvSpPr>
          <p:nvPr/>
        </p:nvSpPr>
        <p:spPr>
          <a:xfrm>
            <a:off x="3276600" y="2705100"/>
            <a:ext cx="3276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从核已进入 _start 后等待 smp_boot_ready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77D666-1D48-48B1-AEC2-07BB62C47509}"/>
              </a:ext>
            </a:extLst>
          </p:cNvPr>
          <p:cNvSpPr>
            <a:spLocks noGrp="1"/>
          </p:cNvSpPr>
          <p:nvPr/>
        </p:nvSpPr>
        <p:spPr>
          <a:xfrm>
            <a:off x="6705600" y="2705100"/>
            <a:ext cx="430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适配本地 QEMU Malta/24Kc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834CF3-7C21-495D-A935-152B326C0418}"/>
              </a:ext>
            </a:extLst>
          </p:cNvPr>
          <p:cNvSpPr>
            <a:spLocks noGrp="1"/>
          </p:cNvSpPr>
          <p:nvPr/>
        </p:nvSpPr>
        <p:spPr>
          <a:xfrm>
            <a:off x="800100" y="3228975"/>
            <a:ext cx="103632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6F8A86C-F01B-44E5-B5B4-A771BCDCC375}"/>
              </a:ext>
            </a:extLst>
          </p:cNvPr>
          <p:cNvSpPr>
            <a:spLocks noGrp="1"/>
          </p:cNvSpPr>
          <p:nvPr/>
        </p:nvSpPr>
        <p:spPr>
          <a:xfrm>
            <a:off x="800100" y="3314700"/>
            <a:ext cx="2324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slave_exc_gen_entry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BCF13C-6745-4364-B2C3-BBF18F624943}"/>
              </a:ext>
            </a:extLst>
          </p:cNvPr>
          <p:cNvSpPr>
            <a:spLocks noGrp="1"/>
          </p:cNvSpPr>
          <p:nvPr/>
        </p:nvSpPr>
        <p:spPr>
          <a:xfrm>
            <a:off x="3276600" y="3314700"/>
            <a:ext cx="3276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所有 CPU 共用 exc_gen_entry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DB35E3-4A50-4FFE-81BA-3944F67EC6F4}"/>
              </a:ext>
            </a:extLst>
          </p:cNvPr>
          <p:cNvSpPr>
            <a:spLocks noGrp="1"/>
          </p:cNvSpPr>
          <p:nvPr/>
        </p:nvSpPr>
        <p:spPr>
          <a:xfrm>
            <a:off x="6705600" y="3314700"/>
            <a:ext cx="430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栈和状态按 EBase/cpu_data 分流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DFFA55B-2C67-458C-AB41-D4560252B07F}"/>
              </a:ext>
            </a:extLst>
          </p:cNvPr>
          <p:cNvSpPr>
            <a:spLocks noGrp="1"/>
          </p:cNvSpPr>
          <p:nvPr/>
        </p:nvSpPr>
        <p:spPr>
          <a:xfrm>
            <a:off x="800100" y="3838575"/>
            <a:ext cx="103632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A81BEF-E662-48C3-A2D9-1B951979B60A}"/>
              </a:ext>
            </a:extLst>
          </p:cNvPr>
          <p:cNvSpPr>
            <a:spLocks noGrp="1"/>
          </p:cNvSpPr>
          <p:nvPr/>
        </p:nvSpPr>
        <p:spPr>
          <a:xfrm>
            <a:off x="800100" y="3924300"/>
            <a:ext cx="2324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CAS/无锁页表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6D5AC6C-6CCC-46A0-BD74-D030B3B93F0D}"/>
              </a:ext>
            </a:extLst>
          </p:cNvPr>
          <p:cNvSpPr>
            <a:spLocks noGrp="1"/>
          </p:cNvSpPr>
          <p:nvPr/>
        </p:nvSpPr>
        <p:spPr>
          <a:xfrm>
            <a:off x="3276600" y="3924300"/>
            <a:ext cx="3276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pmap_lock 粗粒度保护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2EFA334-943B-4D10-880F-5CBD14346080}"/>
              </a:ext>
            </a:extLst>
          </p:cNvPr>
          <p:cNvSpPr>
            <a:spLocks noGrp="1"/>
          </p:cNvSpPr>
          <p:nvPr/>
        </p:nvSpPr>
        <p:spPr>
          <a:xfrm>
            <a:off x="6705600" y="3924300"/>
            <a:ext cx="430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正确性优先，TLB 广播在锁外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2EF5F8A-771B-4CB5-8F3F-67609AA91FB7}"/>
              </a:ext>
            </a:extLst>
          </p:cNvPr>
          <p:cNvSpPr>
            <a:spLocks noGrp="1"/>
          </p:cNvSpPr>
          <p:nvPr/>
        </p:nvSpPr>
        <p:spPr>
          <a:xfrm>
            <a:off x="800100" y="4448175"/>
            <a:ext cx="103632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44204F-9A16-40C9-93F0-24B51EE327B4}"/>
              </a:ext>
            </a:extLst>
          </p:cNvPr>
          <p:cNvSpPr>
            <a:spLocks noGrp="1"/>
          </p:cNvSpPr>
          <p:nvPr/>
        </p:nvSpPr>
        <p:spPr>
          <a:xfrm>
            <a:off x="800100" y="4533900"/>
            <a:ext cx="2324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全硬件 IPI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884387C-A237-4C4A-99A7-96659B518C79}"/>
              </a:ext>
            </a:extLst>
          </p:cNvPr>
          <p:cNvSpPr>
            <a:spLocks noGrp="1"/>
          </p:cNvSpPr>
          <p:nvPr/>
        </p:nvSpPr>
        <p:spPr>
          <a:xfrm>
            <a:off x="3276600" y="4533900"/>
            <a:ext cx="3276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默认共享内存 pending + mailbox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628A35-0799-4C00-9238-4D2ED6FB9C6B}"/>
              </a:ext>
            </a:extLst>
          </p:cNvPr>
          <p:cNvSpPr>
            <a:spLocks noGrp="1"/>
          </p:cNvSpPr>
          <p:nvPr/>
        </p:nvSpPr>
        <p:spPr>
          <a:xfrm>
            <a:off x="6705600" y="4533900"/>
            <a:ext cx="430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语义保留，MMIO 分支可切换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3D35681-E0ED-4058-9E6D-9A518CEB404E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054E0E6-1AF2-4FE6-BFF4-0AB521BBBA68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10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多核移植实现</a:t>
            </a: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/ 03</a:t>
            </a:r>
          </a:p>
        </p:txBody>
      </p:sp>
    </p:spTree>
    <p:extLst>
      <p:ext uri="{BB962C8B-B14F-4D97-AF65-F5344CB8AC3E}">
        <p14:creationId xmlns:p14="http://schemas.microsoft.com/office/powerpoint/2010/main" val="137345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B1B481D-4CC2-4DB2-896B-740FF3191BE9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186D07-6B02-4982-8F6D-C27E3643C1A1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启动路径：从 IPI_START 改为启动栅栏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F1519A3-6B9B-4D42-8149-71CD8C1DF509}"/>
              </a:ext>
            </a:extLst>
          </p:cNvPr>
          <p:cNvSpPr>
            <a:spLocks noGrp="1"/>
          </p:cNvSpPr>
          <p:nvPr/>
        </p:nvSpPr>
        <p:spPr>
          <a:xfrm>
            <a:off x="819150" y="1952625"/>
            <a:ext cx="1809750" cy="685800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所有 CPU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进入 _start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0B95285-2018-4A55-B02C-3CB918600E06}"/>
              </a:ext>
            </a:extLst>
          </p:cNvPr>
          <p:cNvSpPr>
            <a:spLocks noGrp="1"/>
          </p:cNvSpPr>
          <p:nvPr/>
        </p:nvSpPr>
        <p:spPr>
          <a:xfrm>
            <a:off x="3143250" y="1952625"/>
            <a:ext cx="2000250" cy="685800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 w="14288">
            <a:solidFill>
              <a:srgbClr val="0F766E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EBase 低位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判断 CPU ID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C49C936-DB44-45E6-998E-E0ECA5DD0F1D}"/>
              </a:ext>
            </a:extLst>
          </p:cNvPr>
          <p:cNvSpPr>
            <a:spLocks noGrp="1"/>
          </p:cNvSpPr>
          <p:nvPr/>
        </p:nvSpPr>
        <p:spPr>
          <a:xfrm>
            <a:off x="5791200" y="1352550"/>
            <a:ext cx="2190750" cy="781050"/>
          </a:xfrm>
          <a:prstGeom prst="roundRect">
            <a:avLst>
              <a:gd name="adj" fmla="val 9756"/>
            </a:avLst>
          </a:prstGeom>
          <a:solidFill>
            <a:srgbClr val="DCFCE7"/>
          </a:solidFill>
          <a:ln w="14288">
            <a:solidFill>
              <a:srgbClr val="16A34A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CPU0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清 .bss / smp_init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8915350-8F99-46DA-8024-C55ED5C306D3}"/>
              </a:ext>
            </a:extLst>
          </p:cNvPr>
          <p:cNvSpPr>
            <a:spLocks noGrp="1"/>
          </p:cNvSpPr>
          <p:nvPr/>
        </p:nvSpPr>
        <p:spPr>
          <a:xfrm>
            <a:off x="5791200" y="2724150"/>
            <a:ext cx="2190750" cy="781050"/>
          </a:xfrm>
          <a:prstGeom prst="roundRect">
            <a:avLst>
              <a:gd name="adj" fmla="val 9756"/>
            </a:avLst>
          </a:prstGeom>
          <a:solidFill>
            <a:srgbClr val="FEF3C7"/>
          </a:solidFill>
          <a:ln w="14288">
            <a:solidFill>
              <a:srgbClr val="D97706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CPU1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等待 smp_boot_ready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DE44641-D050-47F4-9067-10D4A548A1DE}"/>
              </a:ext>
            </a:extLst>
          </p:cNvPr>
          <p:cNvSpPr>
            <a:spLocks noGrp="1"/>
          </p:cNvSpPr>
          <p:nvPr/>
        </p:nvSpPr>
        <p:spPr>
          <a:xfrm>
            <a:off x="8705850" y="1352550"/>
            <a:ext cx="1809750" cy="781050"/>
          </a:xfrm>
          <a:prstGeom prst="roundRect">
            <a:avLst>
              <a:gd name="adj" fmla="val 9756"/>
            </a:avLst>
          </a:prstGeom>
          <a:solidFill>
            <a:srgbClr val="F3E8FF"/>
          </a:solidFill>
          <a:ln w="14288">
            <a:solidFill>
              <a:srgbClr val="7C3AED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mips_init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创建 env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64FEABD-56E5-49CB-9F11-5EBD29113B47}"/>
              </a:ext>
            </a:extLst>
          </p:cNvPr>
          <p:cNvSpPr>
            <a:spLocks noGrp="1"/>
          </p:cNvSpPr>
          <p:nvPr/>
        </p:nvSpPr>
        <p:spPr>
          <a:xfrm>
            <a:off x="8705850" y="2724150"/>
            <a:ext cx="2190750" cy="781050"/>
          </a:xfrm>
          <a:prstGeom prst="roundRect">
            <a:avLst>
              <a:gd name="adj" fmla="val 9756"/>
            </a:avLst>
          </a:prstGeom>
          <a:solidFill>
            <a:srgbClr val="FCE7F3"/>
          </a:solidFill>
          <a:ln w="14288">
            <a:solidFill>
              <a:srgbClr val="DB2777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独立栈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secondary_start</a:t>
            </a:r>
          </a:p>
        </p:txBody>
      </p:sp>
      <p:cxnSp>
        <p:nvCxnSpPr>
          <p:cNvPr id="27" name="直接箭头连接符 26"/>
          <p:cNvCxnSpPr>
            <a:stCxn id="3" idx="3"/>
            <a:endCxn id="4" idx="1"/>
          </p:cNvCxnSpPr>
          <p:nvPr/>
        </p:nvCxnSpPr>
        <p:spPr>
          <a:xfrm>
            <a:off x="2628900" y="2295525"/>
            <a:ext cx="5143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8" name="连接符: 肘形 27"/>
          <p:cNvCxnSpPr>
            <a:stCxn id="4" idx="3"/>
            <a:endCxn id="5" idx="1"/>
          </p:cNvCxnSpPr>
          <p:nvPr/>
        </p:nvCxnSpPr>
        <p:spPr>
          <a:xfrm flipV="1">
            <a:off x="5143500" y="1743075"/>
            <a:ext cx="647700" cy="552450"/>
          </a:xfrm>
          <a:prstGeom prst="bentConnector3">
            <a:avLst>
              <a:gd name="adj1" fmla="val 50000"/>
            </a:avLst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9" name="连接符: 肘形 28"/>
          <p:cNvCxnSpPr>
            <a:stCxn id="4" idx="3"/>
            <a:endCxn id="6" idx="1"/>
          </p:cNvCxnSpPr>
          <p:nvPr/>
        </p:nvCxnSpPr>
        <p:spPr>
          <a:xfrm>
            <a:off x="5143500" y="2295525"/>
            <a:ext cx="647700" cy="819150"/>
          </a:xfrm>
          <a:prstGeom prst="bentConnector3">
            <a:avLst>
              <a:gd name="adj1" fmla="val 50000"/>
            </a:avLst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30" name="直接箭头连接符 29"/>
          <p:cNvCxnSpPr>
            <a:stCxn id="5" idx="3"/>
            <a:endCxn id="7" idx="1"/>
          </p:cNvCxnSpPr>
          <p:nvPr/>
        </p:nvCxnSpPr>
        <p:spPr>
          <a:xfrm>
            <a:off x="7981950" y="1743075"/>
            <a:ext cx="7239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31" name="直接箭头连接符 30"/>
          <p:cNvCxnSpPr>
            <a:stCxn id="6" idx="3"/>
            <a:endCxn id="8" idx="1"/>
          </p:cNvCxnSpPr>
          <p:nvPr/>
        </p:nvCxnSpPr>
        <p:spPr>
          <a:xfrm>
            <a:off x="7981950" y="3114675"/>
            <a:ext cx="7239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7D06E17-A44C-466D-B2CE-1DF3F094D6C1}"/>
              </a:ext>
            </a:extLst>
          </p:cNvPr>
          <p:cNvSpPr>
            <a:spLocks noGrp="1"/>
          </p:cNvSpPr>
          <p:nvPr/>
        </p:nvSpPr>
        <p:spPr>
          <a:xfrm>
            <a:off x="1333500" y="4171950"/>
            <a:ext cx="9525000" cy="1657350"/>
          </a:xfrm>
          <a:prstGeom prst="roundRect">
            <a:avLst>
              <a:gd name="adj" fmla="val 459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58FDA8-D51D-4698-9C65-0DA64761CB14}"/>
              </a:ext>
            </a:extLst>
          </p:cNvPr>
          <p:cNvSpPr>
            <a:spLocks noGrp="1"/>
          </p:cNvSpPr>
          <p:nvPr/>
        </p:nvSpPr>
        <p:spPr>
          <a:xfrm>
            <a:off x="1524000" y="4305300"/>
            <a:ext cx="914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init/start.S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8478210-7B27-45B1-A1BA-282B0CC65AF2}"/>
              </a:ext>
            </a:extLst>
          </p:cNvPr>
          <p:cNvSpPr>
            <a:spLocks noGrp="1"/>
          </p:cNvSpPr>
          <p:nvPr/>
        </p:nvSpPr>
        <p:spPr>
          <a:xfrm>
            <a:off x="1524000" y="4610100"/>
            <a:ext cx="9144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86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mfc0    t0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472B6"/>
                </a:solidFill>
                <a:latin typeface="Cascadia Mono"/>
                <a:ea typeface="Cascadia Mono"/>
                <a:cs typeface="Cascadia Mono"/>
              </a:rPr>
              <a:t>CP0_EBASE</a:t>
            </a:r>
          </a:p>
          <a:p>
            <a:pPr algn="l">
              <a:lnSpc>
                <a:spcPct val="86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andi    t0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t0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0x03ff</a:t>
            </a:r>
          </a:p>
          <a:p>
            <a:pPr algn="l">
              <a:lnSpc>
                <a:spcPct val="86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bnez    t0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secondary_wait</a:t>
            </a:r>
          </a:p>
          <a:p>
            <a:pPr algn="l">
              <a:lnSpc>
                <a:spcPct val="86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secondary_wait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:</a:t>
            </a:r>
          </a:p>
          <a:p>
            <a:pPr algn="l">
              <a:lnSpc>
                <a:spcPct val="86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bne     t2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t3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1b</a:t>
            </a:r>
          </a:p>
          <a:p>
            <a:pPr algn="l">
              <a:lnSpc>
                <a:spcPct val="86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j       smp_secondary_start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6611676-F837-4196-9A40-E282A8B93EDC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7E9A0A-3915-428C-8BDA-69BDE06188DF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10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多核移植实现</a:t>
            </a: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/ 04</a:t>
            </a:r>
          </a:p>
        </p:txBody>
      </p:sp>
    </p:spTree>
    <p:extLst>
      <p:ext uri="{BB962C8B-B14F-4D97-AF65-F5344CB8AC3E}">
        <p14:creationId xmlns:p14="http://schemas.microsoft.com/office/powerpoint/2010/main" val="1581291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49437492-0DE6-4DD7-B011-01DB3FBFFEF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4EA79D-7614-40CC-B2A6-1413370FE175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每核状态：不用 $gp，也能 per-CPU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A698E5-19D1-47C4-BDED-0BB5212F6C17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40005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marL="24" indent="-14" algn="l">
              <a:lnSpc>
                <a:spcPct val="112000"/>
              </a:lnSpc>
              <a:buNone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教程：</a:t>
            </a: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DECLARE_LOCAL_DATA_PTR 绑定 $gp</a:t>
            </a:r>
          </a:p>
          <a:p>
            <a:pPr marL="24" indent="-14" algn="l">
              <a:lnSpc>
                <a:spcPct val="112000"/>
              </a:lnSpc>
              <a:buNone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实现：</a:t>
            </a: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CP0 EBase -&gt; cpu_id() -&gt; cpu_data[cpu]</a:t>
            </a:r>
          </a:p>
          <a:p>
            <a:pPr marL="24" indent="-14" algn="l">
              <a:lnSpc>
                <a:spcPct val="112000"/>
              </a:lnSpc>
              <a:buNone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收益：</a:t>
            </a: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汇编入口和异常路径不用维护 $gp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8ED3094-7A4B-438F-A138-32DEE284B52C}"/>
              </a:ext>
            </a:extLst>
          </p:cNvPr>
          <p:cNvSpPr>
            <a:spLocks noGrp="1"/>
          </p:cNvSpPr>
          <p:nvPr/>
        </p:nvSpPr>
        <p:spPr>
          <a:xfrm>
            <a:off x="5334000" y="1524000"/>
            <a:ext cx="5810250" cy="1866900"/>
          </a:xfrm>
          <a:prstGeom prst="roundRect">
            <a:avLst>
              <a:gd name="adj" fmla="val 4082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A525F4-CA0F-4AA8-9BC0-D66DA24D059E}"/>
              </a:ext>
            </a:extLst>
          </p:cNvPr>
          <p:cNvSpPr>
            <a:spLocks noGrp="1"/>
          </p:cNvSpPr>
          <p:nvPr/>
        </p:nvSpPr>
        <p:spPr>
          <a:xfrm>
            <a:off x="5524500" y="16573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include/smp.h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0DBF64-34D6-471A-9844-B4D3A85630DC}"/>
              </a:ext>
            </a:extLst>
          </p:cNvPr>
          <p:cNvSpPr>
            <a:spLocks noGrp="1"/>
          </p:cNvSpPr>
          <p:nvPr/>
        </p:nvSpPr>
        <p:spPr>
          <a:xfrm>
            <a:off x="5524500" y="1962150"/>
            <a:ext cx="5429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struct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cpu_local_data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int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cpu_id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struct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Env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*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curenv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Pde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*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cur_pgdir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u_long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kernel_stack_top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int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sched_count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};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25746D4-59E7-4BC1-A7F7-5A8B2241EAB0}"/>
              </a:ext>
            </a:extLst>
          </p:cNvPr>
          <p:cNvSpPr>
            <a:spLocks noGrp="1"/>
          </p:cNvSpPr>
          <p:nvPr/>
        </p:nvSpPr>
        <p:spPr>
          <a:xfrm>
            <a:off x="5334000" y="3733800"/>
            <a:ext cx="5810250" cy="1504950"/>
          </a:xfrm>
          <a:prstGeom prst="roundRect">
            <a:avLst>
              <a:gd name="adj" fmla="val 5063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3E6862-1E13-4A5A-A492-01F9ECFFFCB5}"/>
              </a:ext>
            </a:extLst>
          </p:cNvPr>
          <p:cNvSpPr>
            <a:spLocks noGrp="1"/>
          </p:cNvSpPr>
          <p:nvPr/>
        </p:nvSpPr>
        <p:spPr>
          <a:xfrm>
            <a:off x="5524500" y="386715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kern/smp.c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2A323D-E05F-43C1-B44E-85388055C569}"/>
              </a:ext>
            </a:extLst>
          </p:cNvPr>
          <p:cNvSpPr>
            <a:spLocks noGrp="1"/>
          </p:cNvSpPr>
          <p:nvPr/>
        </p:nvSpPr>
        <p:spPr>
          <a:xfrm>
            <a:off x="5524500" y="4171950"/>
            <a:ext cx="5429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int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cpu_id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void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u_int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ebase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__asm__ 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volatile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86EFAC"/>
                </a:solidFill>
                <a:latin typeface="Cascadia Mono"/>
                <a:ea typeface="Cascadia Mono"/>
                <a:cs typeface="Cascadia Mono"/>
              </a:rPr>
              <a:t>"mfc0 %0, $15, 1"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: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86EFAC"/>
                </a:solidFill>
                <a:latin typeface="Cascadia Mono"/>
                <a:ea typeface="Cascadia Mono"/>
                <a:cs typeface="Cascadia Mono"/>
              </a:rPr>
              <a:t>"=r"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ebase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));</a:t>
            </a:r>
          </a:p>
          <a:p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ebase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&amp;=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0x3ff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return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ebase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&gt;=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472B6"/>
                </a:solidFill>
                <a:latin typeface="Cascadia Mono"/>
                <a:ea typeface="Cascadia Mono"/>
                <a:cs typeface="Cascadia Mono"/>
              </a:rPr>
              <a:t>NR_CPUS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?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0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: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ebase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C5F612B-E99F-4AB9-B6B4-58F738AA8F62}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1143000" cy="4953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curenv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A3B6F90-D7CE-4F31-B860-3A8EE8243719}"/>
              </a:ext>
            </a:extLst>
          </p:cNvPr>
          <p:cNvSpPr>
            <a:spLocks noGrp="1"/>
          </p:cNvSpPr>
          <p:nvPr/>
        </p:nvSpPr>
        <p:spPr>
          <a:xfrm>
            <a:off x="2857500" y="3943350"/>
            <a:ext cx="1333500" cy="495300"/>
          </a:xfrm>
          <a:prstGeom prst="roundRect">
            <a:avLst>
              <a:gd name="adj" fmla="val 15385"/>
            </a:avLst>
          </a:prstGeom>
          <a:solidFill>
            <a:srgbClr val="E0F2FE"/>
          </a:solidFill>
          <a:ln w="14288">
            <a:solidFill>
              <a:srgbClr val="0F766E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cur_pgdir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ED417E2-1923-482E-BC69-CF7FE2ECAB42}"/>
              </a:ext>
            </a:extLst>
          </p:cNvPr>
          <p:cNvSpPr>
            <a:spLocks noGrp="1"/>
          </p:cNvSpPr>
          <p:nvPr/>
        </p:nvSpPr>
        <p:spPr>
          <a:xfrm>
            <a:off x="2038350" y="4895850"/>
            <a:ext cx="1428750" cy="495300"/>
          </a:xfrm>
          <a:prstGeom prst="roundRect">
            <a:avLst>
              <a:gd name="adj" fmla="val 15385"/>
            </a:avLst>
          </a:prstGeom>
          <a:solidFill>
            <a:srgbClr val="F3E8FF"/>
          </a:solidFill>
          <a:ln w="14288">
            <a:solidFill>
              <a:srgbClr val="7C3AED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sched_count</a:t>
            </a:r>
          </a:p>
        </p:txBody>
      </p:sp>
      <p:cxnSp>
        <p:nvCxnSpPr>
          <p:cNvPr id="29" name="连接符: 肘形 28"/>
          <p:cNvCxnSpPr>
            <a:stCxn id="10" idx="2"/>
            <a:endCxn id="12" idx="0"/>
          </p:cNvCxnSpPr>
          <p:nvPr/>
        </p:nvCxnSpPr>
        <p:spPr>
          <a:xfrm>
            <a:off x="1790700" y="4438650"/>
            <a:ext cx="962025" cy="457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64748B"/>
            </a:solidFill>
            <a:prstDash val="dash"/>
            <a:tailEnd type="arrow" w="med" len="med"/>
          </a:ln>
        </p:spPr>
      </p:cxnSp>
      <p:cxnSp>
        <p:nvCxnSpPr>
          <p:cNvPr id="30" name="连接符: 肘形 29"/>
          <p:cNvCxnSpPr>
            <a:stCxn id="11" idx="2"/>
            <a:endCxn id="12" idx="0"/>
          </p:cNvCxnSpPr>
          <p:nvPr/>
        </p:nvCxnSpPr>
        <p:spPr>
          <a:xfrm flipH="1">
            <a:off x="2752725" y="4438650"/>
            <a:ext cx="771525" cy="457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64748B"/>
            </a:solidFill>
            <a:prstDash val="dash"/>
            <a:tailEnd type="arrow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83DEAEE-2027-4972-9892-CE3AD0006232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F02386-00FD-4F66-A0CD-D81C19B7375E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10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多核移植实现</a:t>
            </a: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/ 05</a:t>
            </a:r>
          </a:p>
        </p:txBody>
      </p:sp>
    </p:spTree>
    <p:extLst>
      <p:ext uri="{BB962C8B-B14F-4D97-AF65-F5344CB8AC3E}">
        <p14:creationId xmlns:p14="http://schemas.microsoft.com/office/powerpoint/2010/main" val="615977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B009349-BBD4-4400-B797-9C542DA2453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322174-ED87-44B2-A42F-354F053D91B3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 mailbox：同步远程函数调用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DCA3BAA-145A-469C-8DED-178162B85A08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1524000" cy="704850"/>
          </a:xfrm>
          <a:prstGeom prst="roundRect">
            <a:avLst>
              <a:gd name="adj" fmla="val 10811"/>
            </a:avLst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 A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发起调用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3D36827-D4F1-4B6A-95AA-A8C916F3C79C}"/>
              </a:ext>
            </a:extLst>
          </p:cNvPr>
          <p:cNvSpPr>
            <a:spLocks noGrp="1"/>
          </p:cNvSpPr>
          <p:nvPr/>
        </p:nvSpPr>
        <p:spPr>
          <a:xfrm>
            <a:off x="3143250" y="2076450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F3E8FF"/>
          </a:solidFill>
          <a:ln w="14288">
            <a:solidFill>
              <a:srgbClr val="7C3AED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mailbox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fn/arg0/arg1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1EBA592-036D-495C-8282-B8C28E14B21F}"/>
              </a:ext>
            </a:extLst>
          </p:cNvPr>
          <p:cNvSpPr>
            <a:spLocks noGrp="1"/>
          </p:cNvSpPr>
          <p:nvPr/>
        </p:nvSpPr>
        <p:spPr>
          <a:xfrm>
            <a:off x="5619750" y="2076450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FEF3C7"/>
          </a:solidFill>
          <a:ln w="14288">
            <a:solidFill>
              <a:srgbClr val="D97706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IPI_CALL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pending bit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5F21FE0-1694-4487-AB99-F45150E66207}"/>
              </a:ext>
            </a:extLst>
          </p:cNvPr>
          <p:cNvSpPr>
            <a:spLocks noGrp="1"/>
          </p:cNvSpPr>
          <p:nvPr/>
        </p:nvSpPr>
        <p:spPr>
          <a:xfrm>
            <a:off x="8096250" y="2076450"/>
            <a:ext cx="2000250" cy="704850"/>
          </a:xfrm>
          <a:prstGeom prst="roundRect">
            <a:avLst>
              <a:gd name="adj" fmla="val 10811"/>
            </a:avLst>
          </a:prstGeom>
          <a:solidFill>
            <a:srgbClr val="DCFCE7"/>
          </a:solidFill>
          <a:ln w="14288">
            <a:solidFill>
              <a:srgbClr val="16A34A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 B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handle_ipi_irq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A469F8E-D134-419C-93F2-719646421B76}"/>
              </a:ext>
            </a:extLst>
          </p:cNvPr>
          <p:cNvSpPr>
            <a:spLocks noGrp="1"/>
          </p:cNvSpPr>
          <p:nvPr/>
        </p:nvSpPr>
        <p:spPr>
          <a:xfrm>
            <a:off x="8096250" y="3295650"/>
            <a:ext cx="2000250" cy="552450"/>
          </a:xfrm>
          <a:prstGeom prst="roundRect">
            <a:avLst>
              <a:gd name="adj" fmla="val 13793"/>
            </a:avLst>
          </a:prstGeom>
          <a:solidFill>
            <a:srgbClr val="E0F2FE"/>
          </a:solidFill>
          <a:ln w="14288">
            <a:solidFill>
              <a:srgbClr val="0F766E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ipi_done = 1</a:t>
            </a:r>
          </a:p>
        </p:txBody>
      </p:sp>
      <p:cxnSp>
        <p:nvCxnSpPr>
          <p:cNvPr id="25" name="直接箭头连接符 24"/>
          <p:cNvCxnSpPr>
            <a:stCxn id="3" idx="3"/>
            <a:endCxn id="4" idx="1"/>
          </p:cNvCxnSpPr>
          <p:nvPr/>
        </p:nvCxnSpPr>
        <p:spPr>
          <a:xfrm>
            <a:off x="2381250" y="2428875"/>
            <a:ext cx="762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6" name="直接箭头连接符 25"/>
          <p:cNvCxnSpPr>
            <a:stCxn id="4" idx="3"/>
            <a:endCxn id="5" idx="1"/>
          </p:cNvCxnSpPr>
          <p:nvPr/>
        </p:nvCxnSpPr>
        <p:spPr>
          <a:xfrm>
            <a:off x="4857750" y="2428875"/>
            <a:ext cx="762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7" name="直接箭头连接符 26"/>
          <p:cNvCxnSpPr>
            <a:stCxn id="5" idx="3"/>
            <a:endCxn id="6" idx="1"/>
          </p:cNvCxnSpPr>
          <p:nvPr/>
        </p:nvCxnSpPr>
        <p:spPr>
          <a:xfrm>
            <a:off x="7334250" y="2428875"/>
            <a:ext cx="762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8" name="直接箭头连接符 27"/>
          <p:cNvCxnSpPr>
            <a:stCxn id="6" idx="2"/>
            <a:endCxn id="7" idx="0"/>
          </p:cNvCxnSpPr>
          <p:nvPr/>
        </p:nvCxnSpPr>
        <p:spPr>
          <a:xfrm>
            <a:off x="9096375" y="2781300"/>
            <a:ext cx="0" cy="51435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9" name="连接符: 肘形 28"/>
          <p:cNvCxnSpPr>
            <a:stCxn id="7" idx="1"/>
            <a:endCxn id="3" idx="2"/>
          </p:cNvCxnSpPr>
          <p:nvPr/>
        </p:nvCxnSpPr>
        <p:spPr>
          <a:xfrm flipH="1" flipV="1">
            <a:off x="1619250" y="2781300"/>
            <a:ext cx="6477000" cy="790575"/>
          </a:xfrm>
          <a:prstGeom prst="bentConnector2">
            <a:avLst/>
          </a:prstGeom>
          <a:ln w="19050">
            <a:solidFill>
              <a:srgbClr val="64748B"/>
            </a:solidFill>
            <a:prstDash val="dash"/>
            <a:tailEnd type="arrow" w="med" len="med"/>
          </a:ln>
        </p:spPr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52AAD06-C8EF-4634-A87C-0B67F444D362}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9334500" cy="1581150"/>
          </a:xfrm>
          <a:prstGeom prst="roundRect">
            <a:avLst>
              <a:gd name="adj" fmla="val 4819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E1158C4-1AD4-47D9-8199-8997828B7A4E}"/>
              </a:ext>
            </a:extLst>
          </p:cNvPr>
          <p:cNvSpPr>
            <a:spLocks noGrp="1"/>
          </p:cNvSpPr>
          <p:nvPr/>
        </p:nvSpPr>
        <p:spPr>
          <a:xfrm>
            <a:off x="1257300" y="443865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kern/smp.c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4F5C4E-AE00-4C5F-86B6-57A3E79E0ECC}"/>
              </a:ext>
            </a:extLst>
          </p:cNvPr>
          <p:cNvSpPr>
            <a:spLocks noGrp="1"/>
          </p:cNvSpPr>
          <p:nvPr/>
        </p:nvSpPr>
        <p:spPr>
          <a:xfrm>
            <a:off x="1257300" y="4743450"/>
            <a:ext cx="89535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 dirty="0" err="1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spin_lock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(&amp;</a:t>
            </a:r>
            <a:r>
              <a:rPr sz="1200" b="0" dirty="0" err="1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ipi_mailbox_lock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[</a:t>
            </a:r>
            <a:r>
              <a:rPr sz="1200" b="0" dirty="0" err="1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]);</a:t>
            </a:r>
          </a:p>
          <a:p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 dirty="0" err="1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ipi_done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[</a:t>
            </a:r>
            <a:r>
              <a:rPr sz="1200" b="0" dirty="0" err="1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]</a:t>
            </a:r>
            <a:r>
              <a:rPr sz="1200" b="0" dirty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</a:t>
            </a:r>
            <a:r>
              <a:rPr sz="1200" b="0" dirty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 dirty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0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 dirty="0" err="1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ipi_mailbox_write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 dirty="0" err="1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 dirty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 dirty="0">
                <a:solidFill>
                  <a:srgbClr val="F472B6"/>
                </a:solidFill>
                <a:latin typeface="Cascadia Mono"/>
                <a:ea typeface="Cascadia Mono"/>
                <a:cs typeface="Cascadia Mono"/>
              </a:rPr>
              <a:t>IPI_MBOX_FN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 dirty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1" dirty="0" err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u_int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 dirty="0" err="1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fn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);</a:t>
            </a:r>
          </a:p>
          <a:p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 dirty="0" err="1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ipi_send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 dirty="0" err="1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 dirty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 dirty="0">
                <a:solidFill>
                  <a:srgbClr val="F472B6"/>
                </a:solidFill>
                <a:latin typeface="Cascadia Mono"/>
                <a:ea typeface="Cascadia Mono"/>
                <a:cs typeface="Cascadia Mono"/>
              </a:rPr>
              <a:t>IPI_CALL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);</a:t>
            </a:r>
          </a:p>
          <a:p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 dirty="0" err="1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ipi_wait_done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 dirty="0" err="1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);</a:t>
            </a:r>
          </a:p>
          <a:p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 dirty="0" err="1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spin_unlock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(&amp;</a:t>
            </a:r>
            <a:r>
              <a:rPr sz="1200" b="0" dirty="0" err="1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ipi_mailbox_lock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[</a:t>
            </a:r>
            <a:r>
              <a:rPr sz="1200" b="0" dirty="0" err="1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 dirty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]);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C70841-8254-4834-A1CC-DA379EEAF695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A277C4-14C4-40C5-9ADE-EFBA02A736B5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10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多核移植实现</a:t>
            </a: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/ 06</a:t>
            </a:r>
          </a:p>
        </p:txBody>
      </p:sp>
    </p:spTree>
    <p:extLst>
      <p:ext uri="{BB962C8B-B14F-4D97-AF65-F5344CB8AC3E}">
        <p14:creationId xmlns:p14="http://schemas.microsoft.com/office/powerpoint/2010/main" val="43877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72A5D4B-399C-4FC7-8D5D-0092D5584815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46D355-FA04-4AD4-9697-DB8E49CE12A3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TLB </a:t>
            </a:r>
            <a:r>
              <a:rPr sz="345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shootdown：页表修改后广播失效</a:t>
            </a:r>
            <a:endParaRPr sz="3450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FB5C4AA-0897-4C90-983E-32E7F3548413}"/>
              </a:ext>
            </a:extLst>
          </p:cNvPr>
          <p:cNvSpPr>
            <a:spLocks noGrp="1"/>
          </p:cNvSpPr>
          <p:nvPr/>
        </p:nvSpPr>
        <p:spPr>
          <a:xfrm>
            <a:off x="914400" y="2324100"/>
            <a:ext cx="1809750" cy="742950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pmap_lock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修改 PTE/ref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EE634EB-0D3D-4B03-AB11-55348B5B4621}"/>
              </a:ext>
            </a:extLst>
          </p:cNvPr>
          <p:cNvSpPr>
            <a:spLocks noGrp="1"/>
          </p:cNvSpPr>
          <p:nvPr/>
        </p:nvSpPr>
        <p:spPr>
          <a:xfrm>
            <a:off x="3390900" y="2324100"/>
            <a:ext cx="1371600" cy="742950"/>
          </a:xfrm>
          <a:prstGeom prst="roundRect">
            <a:avLst>
              <a:gd name="adj" fmla="val 10256"/>
            </a:avLst>
          </a:prstGeom>
          <a:solidFill>
            <a:srgbClr val="DCFCE7"/>
          </a:solidFill>
          <a:ln w="14288">
            <a:solidFill>
              <a:srgbClr val="16A34A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释放锁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DC2C446-570B-44BE-89BB-37872E3724A6}"/>
              </a:ext>
            </a:extLst>
          </p:cNvPr>
          <p:cNvSpPr>
            <a:spLocks noGrp="1"/>
          </p:cNvSpPr>
          <p:nvPr/>
        </p:nvSpPr>
        <p:spPr>
          <a:xfrm>
            <a:off x="5429250" y="2324100"/>
            <a:ext cx="1524000" cy="742950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14288">
            <a:solidFill>
              <a:srgbClr val="0F766E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本地</a:t>
            </a:r>
            <a:endParaRPr sz="1500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TLB out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5B1186D-316A-42FB-8963-DA551F43DCC3}"/>
              </a:ext>
            </a:extLst>
          </p:cNvPr>
          <p:cNvSpPr>
            <a:spLocks noGrp="1"/>
          </p:cNvSpPr>
          <p:nvPr/>
        </p:nvSpPr>
        <p:spPr>
          <a:xfrm>
            <a:off x="7620000" y="2324100"/>
            <a:ext cx="1809750" cy="742950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 w="14288">
            <a:solidFill>
              <a:srgbClr val="D97706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 广播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remote call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1ED24DD-70C1-4FAB-9CED-FBD71EFD3F07}"/>
              </a:ext>
            </a:extLst>
          </p:cNvPr>
          <p:cNvSpPr>
            <a:spLocks noGrp="1"/>
          </p:cNvSpPr>
          <p:nvPr/>
        </p:nvSpPr>
        <p:spPr>
          <a:xfrm>
            <a:off x="10096500" y="2324100"/>
            <a:ext cx="1428750" cy="742950"/>
          </a:xfrm>
          <a:prstGeom prst="roundRect">
            <a:avLst>
              <a:gd name="adj" fmla="val 10256"/>
            </a:avLst>
          </a:prstGeom>
          <a:solidFill>
            <a:srgbClr val="F3E8FF"/>
          </a:solidFill>
          <a:ln w="14288">
            <a:solidFill>
              <a:srgbClr val="7C3AED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远端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TLB out</a:t>
            </a:r>
          </a:p>
        </p:txBody>
      </p:sp>
      <p:cxnSp>
        <p:nvCxnSpPr>
          <p:cNvPr id="25" name="直接箭头连接符 24"/>
          <p:cNvCxnSpPr>
            <a:stCxn id="3" idx="3"/>
            <a:endCxn id="4" idx="1"/>
          </p:cNvCxnSpPr>
          <p:nvPr/>
        </p:nvCxnSpPr>
        <p:spPr>
          <a:xfrm>
            <a:off x="2724150" y="2695575"/>
            <a:ext cx="6667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6" name="直接箭头连接符 25"/>
          <p:cNvCxnSpPr>
            <a:stCxn id="4" idx="3"/>
            <a:endCxn id="5" idx="1"/>
          </p:cNvCxnSpPr>
          <p:nvPr/>
        </p:nvCxnSpPr>
        <p:spPr>
          <a:xfrm>
            <a:off x="4762500" y="2695575"/>
            <a:ext cx="6667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7" name="直接箭头连接符 26"/>
          <p:cNvCxnSpPr>
            <a:stCxn id="5" idx="3"/>
            <a:endCxn id="6" idx="1"/>
          </p:cNvCxnSpPr>
          <p:nvPr/>
        </p:nvCxnSpPr>
        <p:spPr>
          <a:xfrm>
            <a:off x="6953250" y="2695575"/>
            <a:ext cx="6667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8" name="直接箭头连接符 27"/>
          <p:cNvCxnSpPr>
            <a:stCxn id="6" idx="3"/>
            <a:endCxn id="7" idx="1"/>
          </p:cNvCxnSpPr>
          <p:nvPr/>
        </p:nvCxnSpPr>
        <p:spPr>
          <a:xfrm>
            <a:off x="9429750" y="2695575"/>
            <a:ext cx="6667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C5EE732B-757F-405F-A498-BAC153F53481}"/>
              </a:ext>
            </a:extLst>
          </p:cNvPr>
          <p:cNvSpPr>
            <a:spLocks noGrp="1"/>
          </p:cNvSpPr>
          <p:nvPr/>
        </p:nvSpPr>
        <p:spPr>
          <a:xfrm>
            <a:off x="1276350" y="3581400"/>
            <a:ext cx="838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关键：TLB 广播不能放在 pmap_lock 内等待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8F59554-2080-4CA5-9280-1945F56A606C}"/>
              </a:ext>
            </a:extLst>
          </p:cNvPr>
          <p:cNvSpPr>
            <a:spLocks noGrp="1"/>
          </p:cNvSpPr>
          <p:nvPr/>
        </p:nvSpPr>
        <p:spPr>
          <a:xfrm>
            <a:off x="1504950" y="4343400"/>
            <a:ext cx="8382000" cy="1504950"/>
          </a:xfrm>
          <a:prstGeom prst="roundRect">
            <a:avLst>
              <a:gd name="adj" fmla="val 5063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5781529-F421-4CA2-A8C9-56F131FCB5CA}"/>
              </a:ext>
            </a:extLst>
          </p:cNvPr>
          <p:cNvSpPr>
            <a:spLocks noGrp="1"/>
          </p:cNvSpPr>
          <p:nvPr/>
        </p:nvSpPr>
        <p:spPr>
          <a:xfrm>
            <a:off x="1695450" y="4476750"/>
            <a:ext cx="800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kern/tlbex.c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381E9F-8B9A-4154-BED5-02F4B7294A7B}"/>
              </a:ext>
            </a:extLst>
          </p:cNvPr>
          <p:cNvSpPr>
            <a:spLocks noGrp="1"/>
          </p:cNvSpPr>
          <p:nvPr/>
        </p:nvSpPr>
        <p:spPr>
          <a:xfrm>
            <a:off x="1695450" y="4781550"/>
            <a:ext cx="8001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tlb_invalidate_local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asid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va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);</a:t>
            </a:r>
          </a:p>
          <a:p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if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smp_boot_ready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472B6"/>
                </a:solidFill>
                <a:latin typeface="Cascadia Mono"/>
                <a:ea typeface="Cascadia Mono"/>
                <a:cs typeface="Cascadia Mono"/>
              </a:rPr>
              <a:t>SMP_BOOT_READY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smp_group_function_call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</a:p>
          <a:p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    tlb_invalidate_local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asid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u_int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va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);</a:t>
            </a:r>
          </a:p>
          <a:p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F385C0-4A6F-4BCB-8F23-7FB5B1CA7A15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972FE2C-98E9-4079-94B2-C408A4CA9230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10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多核移植实现</a:t>
            </a: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/ 07</a:t>
            </a:r>
          </a:p>
        </p:txBody>
      </p:sp>
    </p:spTree>
    <p:extLst>
      <p:ext uri="{BB962C8B-B14F-4D97-AF65-F5344CB8AC3E}">
        <p14:creationId xmlns:p14="http://schemas.microsoft.com/office/powerpoint/2010/main" val="976819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2EE4A2F-B939-4ABD-9CB5-E22F5D15E61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7270E7-45D5-487A-A761-02022402F246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调度：一个 env 不能同时跑在两个 CPU 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A63CF1-993F-4D6C-A05E-A3E1AF803F2F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4381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marL="24" indent="-14" algn="l">
              <a:lnSpc>
                <a:spcPct val="112000"/>
              </a:lnSpc>
              <a:buNone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env_sched_lock 保护全局 runnable 队列</a:t>
            </a:r>
          </a:p>
          <a:p>
            <a:pPr marL="24" indent="-14" algn="l">
              <a:lnSpc>
                <a:spcPct val="112000"/>
              </a:lnSpc>
              <a:buNone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env_running/env_cpu_id 表示正在运行位置</a:t>
            </a:r>
          </a:p>
          <a:p>
            <a:pPr marL="24" indent="-14" algn="l">
              <a:lnSpc>
                <a:spcPct val="112000"/>
              </a:lnSpc>
              <a:buNone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env_pinned_cpu 支持 fs_serv 固定 CPU0</a:t>
            </a:r>
          </a:p>
          <a:p>
            <a:pPr marL="24" indent="-14" algn="l">
              <a:lnSpc>
                <a:spcPct val="112000"/>
              </a:lnSpc>
              <a:buNone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sched_count 放入 cpu_data，时间片每核独立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7DED1DA-6045-46BC-9787-96377DBCF1CA}"/>
              </a:ext>
            </a:extLst>
          </p:cNvPr>
          <p:cNvSpPr>
            <a:spLocks noGrp="1"/>
          </p:cNvSpPr>
          <p:nvPr/>
        </p:nvSpPr>
        <p:spPr>
          <a:xfrm>
            <a:off x="5524500" y="1581150"/>
            <a:ext cx="5715000" cy="2019300"/>
          </a:xfrm>
          <a:prstGeom prst="roundRect">
            <a:avLst>
              <a:gd name="adj" fmla="val 3774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733294-788B-421E-9FCC-D08D8E6CC0E0}"/>
              </a:ext>
            </a:extLst>
          </p:cNvPr>
          <p:cNvSpPr>
            <a:spLocks noGrp="1"/>
          </p:cNvSpPr>
          <p:nvPr/>
        </p:nvSpPr>
        <p:spPr>
          <a:xfrm>
            <a:off x="5715000" y="17145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kern/sched.c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FD61D-BA2E-491E-95EF-F1CF108881CE}"/>
              </a:ext>
            </a:extLst>
          </p:cNvPr>
          <p:cNvSpPr>
            <a:spLocks noGrp="1"/>
          </p:cNvSpPr>
          <p:nvPr/>
        </p:nvSpPr>
        <p:spPr>
          <a:xfrm>
            <a:off x="5715000" y="2019300"/>
            <a:ext cx="53340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if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pinned_ok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&amp;&amp;</a:t>
            </a:r>
          </a:p>
          <a:p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!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-&gt;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env_kill_pending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&amp;&amp;</a:t>
            </a:r>
          </a:p>
          <a:p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-&gt;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env_running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0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||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-&gt;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env_cpu_id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cpu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))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goto found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...</a:t>
            </a:r>
          </a:p>
          <a:p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-&gt;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env_running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1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-&gt;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env_cpu_id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cpu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cpu_data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[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].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sched_count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count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D93AB9A-50F8-419B-89E8-D2BEF58B1F4C}"/>
              </a:ext>
            </a:extLst>
          </p:cNvPr>
          <p:cNvSpPr>
            <a:spLocks noGrp="1"/>
          </p:cNvSpPr>
          <p:nvPr/>
        </p:nvSpPr>
        <p:spPr>
          <a:xfrm>
            <a:off x="1200150" y="4400550"/>
            <a:ext cx="1866900" cy="552450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env_sched_list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E42C252-09DB-4EFB-B00D-DC975B006DA6}"/>
              </a:ext>
            </a:extLst>
          </p:cNvPr>
          <p:cNvSpPr>
            <a:spLocks noGrp="1"/>
          </p:cNvSpPr>
          <p:nvPr/>
        </p:nvSpPr>
        <p:spPr>
          <a:xfrm>
            <a:off x="4229100" y="3981450"/>
            <a:ext cx="1143000" cy="514350"/>
          </a:xfrm>
          <a:prstGeom prst="roundRect">
            <a:avLst>
              <a:gd name="adj" fmla="val 14815"/>
            </a:avLst>
          </a:prstGeom>
          <a:solidFill>
            <a:srgbClr val="E0F2FE"/>
          </a:solidFill>
          <a:ln w="14288">
            <a:solidFill>
              <a:srgbClr val="0F766E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CPU0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DD7CA19-D312-4B47-ABA0-0C333CE9E87A}"/>
              </a:ext>
            </a:extLst>
          </p:cNvPr>
          <p:cNvSpPr>
            <a:spLocks noGrp="1"/>
          </p:cNvSpPr>
          <p:nvPr/>
        </p:nvSpPr>
        <p:spPr>
          <a:xfrm>
            <a:off x="4229100" y="5029200"/>
            <a:ext cx="1143000" cy="514350"/>
          </a:xfrm>
          <a:prstGeom prst="roundRect">
            <a:avLst>
              <a:gd name="adj" fmla="val 14815"/>
            </a:avLst>
          </a:prstGeom>
          <a:solidFill>
            <a:srgbClr val="F3E8FF"/>
          </a:solidFill>
          <a:ln w="14288">
            <a:solidFill>
              <a:srgbClr val="7C3AED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CPU1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906F567-E386-47F6-A016-D9E6855EA419}"/>
              </a:ext>
            </a:extLst>
          </p:cNvPr>
          <p:cNvSpPr>
            <a:spLocks noGrp="1"/>
          </p:cNvSpPr>
          <p:nvPr/>
        </p:nvSpPr>
        <p:spPr>
          <a:xfrm>
            <a:off x="6858000" y="3981450"/>
            <a:ext cx="1714500" cy="514350"/>
          </a:xfrm>
          <a:prstGeom prst="roundRect">
            <a:avLst>
              <a:gd name="adj" fmla="val 14815"/>
            </a:avLst>
          </a:prstGeom>
          <a:solidFill>
            <a:srgbClr val="DCFCE7"/>
          </a:solidFill>
          <a:ln w="14288">
            <a:solidFill>
              <a:srgbClr val="16A34A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 A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running=1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82E8CE9-3BE0-4FA1-8040-C7521319ABB7}"/>
              </a:ext>
            </a:extLst>
          </p:cNvPr>
          <p:cNvSpPr>
            <a:spLocks noGrp="1"/>
          </p:cNvSpPr>
          <p:nvPr/>
        </p:nvSpPr>
        <p:spPr>
          <a:xfrm>
            <a:off x="6858000" y="5029200"/>
            <a:ext cx="1714500" cy="514350"/>
          </a:xfrm>
          <a:prstGeom prst="roundRect">
            <a:avLst>
              <a:gd name="adj" fmla="val 14815"/>
            </a:avLst>
          </a:prstGeom>
          <a:solidFill>
            <a:srgbClr val="FEF3C7"/>
          </a:solidFill>
          <a:ln w="14288">
            <a:solidFill>
              <a:srgbClr val="D97706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 B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running=1</a:t>
            </a:r>
          </a:p>
        </p:txBody>
      </p:sp>
      <p:cxnSp>
        <p:nvCxnSpPr>
          <p:cNvPr id="29" name="连接符: 肘形 28"/>
          <p:cNvCxnSpPr>
            <a:stCxn id="7" idx="3"/>
            <a:endCxn id="8" idx="1"/>
          </p:cNvCxnSpPr>
          <p:nvPr/>
        </p:nvCxnSpPr>
        <p:spPr>
          <a:xfrm flipV="1">
            <a:off x="3067050" y="4238625"/>
            <a:ext cx="1162050" cy="438150"/>
          </a:xfrm>
          <a:prstGeom prst="bentConnector3">
            <a:avLst>
              <a:gd name="adj1" fmla="val 50000"/>
            </a:avLst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30" name="连接符: 肘形 29"/>
          <p:cNvCxnSpPr>
            <a:stCxn id="7" idx="3"/>
            <a:endCxn id="9" idx="1"/>
          </p:cNvCxnSpPr>
          <p:nvPr/>
        </p:nvCxnSpPr>
        <p:spPr>
          <a:xfrm>
            <a:off x="3067050" y="4676775"/>
            <a:ext cx="1162050" cy="609600"/>
          </a:xfrm>
          <a:prstGeom prst="bentConnector3">
            <a:avLst>
              <a:gd name="adj1" fmla="val 50000"/>
            </a:avLst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31" name="直接箭头连接符 30"/>
          <p:cNvCxnSpPr>
            <a:stCxn id="8" idx="3"/>
            <a:endCxn id="10" idx="1"/>
          </p:cNvCxnSpPr>
          <p:nvPr/>
        </p:nvCxnSpPr>
        <p:spPr>
          <a:xfrm>
            <a:off x="5372100" y="4238625"/>
            <a:ext cx="14859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32" name="直接箭头连接符 31"/>
          <p:cNvCxnSpPr>
            <a:stCxn id="9" idx="3"/>
            <a:endCxn id="11" idx="1"/>
          </p:cNvCxnSpPr>
          <p:nvPr/>
        </p:nvCxnSpPr>
        <p:spPr>
          <a:xfrm>
            <a:off x="5372100" y="5286375"/>
            <a:ext cx="14859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AF51B30D-E178-4162-9DEE-65AF24755D58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500A8B-9BAE-47A9-931D-493B9CFD3F41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10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多核移植实现</a:t>
            </a: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/ 08</a:t>
            </a:r>
          </a:p>
        </p:txBody>
      </p:sp>
    </p:spTree>
    <p:extLst>
      <p:ext uri="{BB962C8B-B14F-4D97-AF65-F5344CB8AC3E}">
        <p14:creationId xmlns:p14="http://schemas.microsoft.com/office/powerpoint/2010/main" val="378037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0D8E255-237A-4900-8196-80422F762D9A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B5EE3F-C650-4EBB-9687-5AAF5B16CF4D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远端 env 销毁：IPI 只 poke，不直接 free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BC57F98-B768-4B0B-8030-017EA8CF82E7}"/>
              </a:ext>
            </a:extLst>
          </p:cNvPr>
          <p:cNvSpPr>
            <a:spLocks noGrp="1"/>
          </p:cNvSpPr>
          <p:nvPr/>
        </p:nvSpPr>
        <p:spPr>
          <a:xfrm>
            <a:off x="800100" y="2000250"/>
            <a:ext cx="1714500" cy="685800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CPU0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env_destroy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C9D4CB3-5B53-4F4F-A350-9C30CBB48545}"/>
              </a:ext>
            </a:extLst>
          </p:cNvPr>
          <p:cNvSpPr>
            <a:spLocks noGrp="1"/>
          </p:cNvSpPr>
          <p:nvPr/>
        </p:nvSpPr>
        <p:spPr>
          <a:xfrm>
            <a:off x="3276600" y="2000250"/>
            <a:ext cx="1809750" cy="68580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4288">
            <a:solidFill>
              <a:srgbClr val="D97706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锁内标记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kill_pending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BF089F0-5FAF-479F-B658-1F303B5A6770}"/>
              </a:ext>
            </a:extLst>
          </p:cNvPr>
          <p:cNvSpPr>
            <a:spLocks noGrp="1"/>
          </p:cNvSpPr>
          <p:nvPr/>
        </p:nvSpPr>
        <p:spPr>
          <a:xfrm>
            <a:off x="5848350" y="2000250"/>
            <a:ext cx="1809750" cy="685800"/>
          </a:xfrm>
          <a:prstGeom prst="roundRect">
            <a:avLst>
              <a:gd name="adj" fmla="val 11111"/>
            </a:avLst>
          </a:prstGeom>
          <a:solidFill>
            <a:srgbClr val="F3E8FF"/>
          </a:solidFill>
          <a:ln w="14288">
            <a:solidFill>
              <a:srgbClr val="7C3AED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 poke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不释放资源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DF70E10-5F09-4105-A3EB-789AB347B97C}"/>
              </a:ext>
            </a:extLst>
          </p:cNvPr>
          <p:cNvSpPr>
            <a:spLocks noGrp="1"/>
          </p:cNvSpPr>
          <p:nvPr/>
        </p:nvSpPr>
        <p:spPr>
          <a:xfrm>
            <a:off x="8420100" y="2000250"/>
            <a:ext cx="2095500" cy="685800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 w="14288">
            <a:solidFill>
              <a:srgbClr val="0F766E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CPU1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schedule 安全点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5CCBB54-6F7A-4BB1-BC98-3A2A8F276620}"/>
              </a:ext>
            </a:extLst>
          </p:cNvPr>
          <p:cNvSpPr>
            <a:spLocks noGrp="1"/>
          </p:cNvSpPr>
          <p:nvPr/>
        </p:nvSpPr>
        <p:spPr>
          <a:xfrm>
            <a:off x="8420100" y="3333750"/>
            <a:ext cx="2095500" cy="68580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14288">
            <a:solidFill>
              <a:srgbClr val="16A34A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本地 env_free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kill_done</a:t>
            </a:r>
          </a:p>
        </p:txBody>
      </p:sp>
      <p:cxnSp>
        <p:nvCxnSpPr>
          <p:cNvPr id="26" name="直接箭头连接符 25"/>
          <p:cNvCxnSpPr>
            <a:stCxn id="3" idx="3"/>
            <a:endCxn id="4" idx="1"/>
          </p:cNvCxnSpPr>
          <p:nvPr/>
        </p:nvCxnSpPr>
        <p:spPr>
          <a:xfrm>
            <a:off x="2514600" y="2343150"/>
            <a:ext cx="762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7" name="直接箭头连接符 26"/>
          <p:cNvCxnSpPr>
            <a:stCxn id="4" idx="3"/>
            <a:endCxn id="5" idx="1"/>
          </p:cNvCxnSpPr>
          <p:nvPr/>
        </p:nvCxnSpPr>
        <p:spPr>
          <a:xfrm>
            <a:off x="5086350" y="2343150"/>
            <a:ext cx="762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8" name="直接箭头连接符 27"/>
          <p:cNvCxnSpPr>
            <a:stCxn id="5" idx="3"/>
            <a:endCxn id="6" idx="1"/>
          </p:cNvCxnSpPr>
          <p:nvPr/>
        </p:nvCxnSpPr>
        <p:spPr>
          <a:xfrm>
            <a:off x="7658100" y="2343150"/>
            <a:ext cx="762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9" name="直接箭头连接符 28"/>
          <p:cNvCxnSpPr>
            <a:stCxn id="6" idx="2"/>
            <a:endCxn id="7" idx="0"/>
          </p:cNvCxnSpPr>
          <p:nvPr/>
        </p:nvCxnSpPr>
        <p:spPr>
          <a:xfrm>
            <a:off x="9467850" y="2686050"/>
            <a:ext cx="0" cy="64770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30" name="连接符: 肘形 29"/>
          <p:cNvCxnSpPr>
            <a:stCxn id="7" idx="1"/>
            <a:endCxn id="3" idx="2"/>
          </p:cNvCxnSpPr>
          <p:nvPr/>
        </p:nvCxnSpPr>
        <p:spPr>
          <a:xfrm flipH="1" flipV="1">
            <a:off x="1657350" y="2686050"/>
            <a:ext cx="6762750" cy="990600"/>
          </a:xfrm>
          <a:prstGeom prst="bentConnector2">
            <a:avLst/>
          </a:prstGeom>
          <a:ln w="19050">
            <a:solidFill>
              <a:srgbClr val="64748B"/>
            </a:solidFill>
            <a:prstDash val="dash"/>
            <a:tailEnd type="arrow" w="med" len="med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8746FB01-5C20-461B-B9B0-826535461DE9}"/>
              </a:ext>
            </a:extLst>
          </p:cNvPr>
          <p:cNvSpPr>
            <a:spLocks noGrp="1"/>
          </p:cNvSpPr>
          <p:nvPr/>
        </p:nvSpPr>
        <p:spPr>
          <a:xfrm>
            <a:off x="1104900" y="434340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避免嵌套链：IPI handler -&gt; env_free -&gt; page_remove -&gt; tlb_invalidate -&gt; IPI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ADA6600-253D-49C4-A5AC-F287BE84AF98}"/>
              </a:ext>
            </a:extLst>
          </p:cNvPr>
          <p:cNvSpPr>
            <a:spLocks noGrp="1"/>
          </p:cNvSpPr>
          <p:nvPr/>
        </p:nvSpPr>
        <p:spPr>
          <a:xfrm>
            <a:off x="1619250" y="4819650"/>
            <a:ext cx="8953500" cy="1409700"/>
          </a:xfrm>
          <a:prstGeom prst="roundRect">
            <a:avLst>
              <a:gd name="adj" fmla="val 5405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63B112-1398-4B74-ACF4-7D191CEFE897}"/>
              </a:ext>
            </a:extLst>
          </p:cNvPr>
          <p:cNvSpPr>
            <a:spLocks noGrp="1"/>
          </p:cNvSpPr>
          <p:nvPr/>
        </p:nvSpPr>
        <p:spPr>
          <a:xfrm>
            <a:off x="1809750" y="49530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kern/env.c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7D0017-123F-4B2A-AB72-F65F3EDC96F5}"/>
              </a:ext>
            </a:extLst>
          </p:cNvPr>
          <p:cNvSpPr>
            <a:spLocks noGrp="1"/>
          </p:cNvSpPr>
          <p:nvPr/>
        </p:nvSpPr>
        <p:spPr>
          <a:xfrm>
            <a:off x="1809750" y="5257800"/>
            <a:ext cx="857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78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u_int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status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env_irq_save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();</a:t>
            </a:r>
          </a:p>
          <a:p>
            <a:pPr algn="l">
              <a:lnSpc>
                <a:spcPct val="78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smp_group_function_call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env_remote_kill_poke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envid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0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);</a:t>
            </a:r>
          </a:p>
          <a:p>
            <a:pPr algn="l">
              <a:lnSpc>
                <a:spcPct val="78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while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-&gt;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env_id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envid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&amp;&amp;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!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-&gt;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env_kill_done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>
            <a:pPr algn="l">
              <a:lnSpc>
                <a:spcPct val="78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handle_ipi_irq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();</a:t>
            </a:r>
          </a:p>
          <a:p>
            <a:pPr algn="l">
              <a:lnSpc>
                <a:spcPct val="78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>
            <a:pPr algn="l">
              <a:lnSpc>
                <a:spcPct val="78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env_irq_restore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status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);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F63EE4-62AA-4D24-A28C-169EFAF5BE23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8480043-D7E5-483D-A8B0-54D0437A34EA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10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多核移植实现</a:t>
            </a:r>
            <a:r>
              <a:rPr lang="zh-CN" alt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/ 09</a:t>
            </a:r>
          </a:p>
        </p:txBody>
      </p:sp>
    </p:spTree>
    <p:extLst>
      <p:ext uri="{BB962C8B-B14F-4D97-AF65-F5344CB8AC3E}">
        <p14:creationId xmlns:p14="http://schemas.microsoft.com/office/powerpoint/2010/main" val="1502420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E71010-D21E-496A-9E40-869A39D93F65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A81AC7-CE87-497F-BF73-5EA92743D6C4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文件系统与设备：先集中，再加锁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1F26604-7D49-4C00-A52C-9829E0C5BA2B}"/>
              </a:ext>
            </a:extLst>
          </p:cNvPr>
          <p:cNvSpPr>
            <a:spLocks noGrp="1"/>
          </p:cNvSpPr>
          <p:nvPr/>
        </p:nvSpPr>
        <p:spPr>
          <a:xfrm>
            <a:off x="990600" y="2038350"/>
            <a:ext cx="2190750" cy="781050"/>
          </a:xfrm>
          <a:prstGeom prst="roundRect">
            <a:avLst>
              <a:gd name="adj" fmla="val 9756"/>
            </a:avLst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普通用户进程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CPU0 / CPU1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CB48FEA-B172-4D98-8B03-AFBB35909267}"/>
              </a:ext>
            </a:extLst>
          </p:cNvPr>
          <p:cNvSpPr>
            <a:spLocks noGrp="1"/>
          </p:cNvSpPr>
          <p:nvPr/>
        </p:nvSpPr>
        <p:spPr>
          <a:xfrm>
            <a:off x="4000500" y="2038350"/>
            <a:ext cx="1428750" cy="781050"/>
          </a:xfrm>
          <a:prstGeom prst="roundRect">
            <a:avLst>
              <a:gd name="adj" fmla="val 9756"/>
            </a:avLst>
          </a:prstGeom>
          <a:solidFill>
            <a:srgbClr val="F3E8FF"/>
          </a:solidFill>
          <a:ln w="14288">
            <a:solidFill>
              <a:srgbClr val="7C3AED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IPC 请求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32B6949-E5EB-474E-9BE6-564D34EF8957}"/>
              </a:ext>
            </a:extLst>
          </p:cNvPr>
          <p:cNvSpPr>
            <a:spLocks noGrp="1"/>
          </p:cNvSpPr>
          <p:nvPr/>
        </p:nvSpPr>
        <p:spPr>
          <a:xfrm>
            <a:off x="6248400" y="2038350"/>
            <a:ext cx="1809750" cy="781050"/>
          </a:xfrm>
          <a:prstGeom prst="roundRect">
            <a:avLst>
              <a:gd name="adj" fmla="val 9756"/>
            </a:avLst>
          </a:prstGeom>
          <a:solidFill>
            <a:srgbClr val="FEF3C7"/>
          </a:solidFill>
          <a:ln w="14288">
            <a:solidFill>
              <a:srgbClr val="D97706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fs_serv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 CPU0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F739AAD-A625-4B3D-A645-BC5D7CA83A91}"/>
              </a:ext>
            </a:extLst>
          </p:cNvPr>
          <p:cNvSpPr>
            <a:spLocks noGrp="1"/>
          </p:cNvSpPr>
          <p:nvPr/>
        </p:nvSpPr>
        <p:spPr>
          <a:xfrm>
            <a:off x="8953500" y="2038350"/>
            <a:ext cx="2095500" cy="781050"/>
          </a:xfrm>
          <a:prstGeom prst="roundRect">
            <a:avLst>
              <a:gd name="adj" fmla="val 9756"/>
            </a:avLst>
          </a:prstGeom>
          <a:solidFill>
            <a:srgbClr val="DCFCE7"/>
          </a:solidFill>
          <a:ln w="14288">
            <a:solidFill>
              <a:srgbClr val="16A34A"/>
            </a:solidFill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IDE / console</a:t>
            </a:r>
          </a:p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锁保护 MMIO</a:t>
            </a:r>
          </a:p>
        </p:txBody>
      </p:sp>
      <p:cxnSp>
        <p:nvCxnSpPr>
          <p:cNvPr id="22" name="直接箭头连接符 21"/>
          <p:cNvCxnSpPr>
            <a:stCxn id="3" idx="3"/>
            <a:endCxn id="4" idx="1"/>
          </p:cNvCxnSpPr>
          <p:nvPr/>
        </p:nvCxnSpPr>
        <p:spPr>
          <a:xfrm>
            <a:off x="3181350" y="2428875"/>
            <a:ext cx="8191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3" name="直接箭头连接符 22"/>
          <p:cNvCxnSpPr>
            <a:stCxn id="4" idx="3"/>
            <a:endCxn id="5" idx="1"/>
          </p:cNvCxnSpPr>
          <p:nvPr/>
        </p:nvCxnSpPr>
        <p:spPr>
          <a:xfrm>
            <a:off x="5429250" y="2428875"/>
            <a:ext cx="8191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4" name="直接箭头连接符 23"/>
          <p:cNvCxnSpPr>
            <a:stCxn id="5" idx="3"/>
            <a:endCxn id="6" idx="1"/>
          </p:cNvCxnSpPr>
          <p:nvPr/>
        </p:nvCxnSpPr>
        <p:spPr>
          <a:xfrm>
            <a:off x="8058150" y="2428875"/>
            <a:ext cx="89535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14F804C-399F-45C9-8640-3B77BFD7B248}"/>
              </a:ext>
            </a:extLst>
          </p:cNvPr>
          <p:cNvSpPr>
            <a:spLocks noGrp="1"/>
          </p:cNvSpPr>
          <p:nvPr/>
        </p:nvSpPr>
        <p:spPr>
          <a:xfrm>
            <a:off x="1200150" y="3638550"/>
            <a:ext cx="9715500" cy="1485900"/>
          </a:xfrm>
          <a:prstGeom prst="roundRect">
            <a:avLst>
              <a:gd name="adj" fmla="val 512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D8F140-74CC-4252-9B16-F91808151B9E}"/>
              </a:ext>
            </a:extLst>
          </p:cNvPr>
          <p:cNvSpPr>
            <a:spLocks noGrp="1"/>
          </p:cNvSpPr>
          <p:nvPr/>
        </p:nvSpPr>
        <p:spPr>
          <a:xfrm>
            <a:off x="1390650" y="37719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kern/env.c / fs/ide.c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D5495E-3634-4875-B1DC-F90BAE2D1B45}"/>
              </a:ext>
            </a:extLst>
          </p:cNvPr>
          <p:cNvSpPr>
            <a:spLocks noGrp="1"/>
          </p:cNvSpPr>
          <p:nvPr/>
        </p:nvSpPr>
        <p:spPr>
          <a:xfrm>
            <a:off x="1390650" y="4076700"/>
            <a:ext cx="9334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if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strcmp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name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86EFAC"/>
                </a:solidFill>
                <a:latin typeface="Cascadia Mono"/>
                <a:ea typeface="Cascadia Mono"/>
                <a:cs typeface="Cascadia Mono"/>
              </a:rPr>
              <a:t>"fs_serv"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0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>
            <a:pPr algn="l">
              <a:lnSpc>
                <a:spcPct val="90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-&gt;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env_pinned_cpu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0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>
            <a:pPr>
              <a:buNone/>
            </a:pPr>
            <a:endParaRPr sz="1200" b="0">
              <a:solidFill>
                <a:srgbClr val="CBD5E1"/>
              </a:solidFill>
              <a:latin typeface="Cascadia Mono"/>
              <a:ea typeface="Cascadia Mono"/>
              <a:cs typeface="Cascadia Mono"/>
            </a:endParaRPr>
          </a:p>
          <a:p>
            <a:pPr algn="l">
              <a:lnSpc>
                <a:spcPct val="90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user_spin_lock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(&amp;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ide_lock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);</a:t>
            </a:r>
          </a:p>
          <a:p>
            <a:pPr algn="l">
              <a:lnSpc>
                <a:spcPct val="90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94A3B8"/>
                </a:solidFill>
                <a:latin typeface="Cascadia Mono"/>
                <a:ea typeface="Cascadia Mono"/>
                <a:cs typeface="Cascadia Mono"/>
              </a:rPr>
              <a:t>// IDE PIO sequence</a:t>
            </a:r>
          </a:p>
          <a:p>
            <a:pPr algn="l">
              <a:lnSpc>
                <a:spcPct val="90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user_spin_unlock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(&amp;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ide_lock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);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54E79F-8274-4254-B069-793CA921EAF6}"/>
              </a:ext>
            </a:extLst>
          </p:cNvPr>
          <p:cNvSpPr>
            <a:spLocks noGrp="1"/>
          </p:cNvSpPr>
          <p:nvPr/>
        </p:nvSpPr>
        <p:spPr>
          <a:xfrm>
            <a:off x="1409700" y="5334000"/>
            <a:ext cx="914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marL="24" indent="-14" algn="l">
              <a:lnSpc>
                <a:spcPct val="112000"/>
              </a:lnSpc>
              <a:buNone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把文件服务集中在 </a:t>
            </a:r>
            <a:r>
              <a:rPr sz="165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CPU0</a:t>
            </a:r>
          </a:p>
          <a:p>
            <a:pPr marL="24" indent="-14" algn="l">
              <a:lnSpc>
                <a:spcPct val="112000"/>
              </a:lnSpc>
              <a:buNone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console/IDE </a:t>
            </a:r>
            <a:r>
              <a:rPr sz="165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直接</a:t>
            </a:r>
            <a:r>
              <a:rPr sz="165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syscall</a:t>
            </a:r>
            <a:r>
              <a:rPr sz="165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5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路径也有内核锁保护</a:t>
            </a:r>
            <a:endParaRPr sz="1650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E76CBB-6531-4FCC-8FEF-386D2722D7AB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C4FBD9-05A1-4091-A2EF-CF315DEFE438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10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多核移植实现</a:t>
            </a:r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/ 10</a:t>
            </a:r>
          </a:p>
        </p:txBody>
      </p:sp>
    </p:spTree>
    <p:extLst>
      <p:ext uri="{BB962C8B-B14F-4D97-AF65-F5344CB8AC3E}">
        <p14:creationId xmlns:p14="http://schemas.microsoft.com/office/powerpoint/2010/main" val="1624286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CA7998B9-5724-444C-B1EF-D5691FA3090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673161-4E9D-471D-A231-8EE105AA303D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测试驱动修复的几个竞态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DC833F-7ACF-4A75-B958-BEAA753C3D06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FA8C86-6D43-40F3-A5DA-FA3862E9AA1B}"/>
              </a:ext>
            </a:extLst>
          </p:cNvPr>
          <p:cNvSpPr>
            <a:spLocks noGrp="1"/>
          </p:cNvSpPr>
          <p:nvPr/>
        </p:nvSpPr>
        <p:spPr>
          <a:xfrm>
            <a:off x="3486150" y="1676400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修复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4FD3C7-F82C-42DD-BBFC-94229DE9E351}"/>
              </a:ext>
            </a:extLst>
          </p:cNvPr>
          <p:cNvSpPr>
            <a:spLocks noGrp="1"/>
          </p:cNvSpPr>
          <p:nvPr/>
        </p:nvSpPr>
        <p:spPr>
          <a:xfrm>
            <a:off x="7486650" y="1676400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C8FC50-D7D5-4DB9-9A33-A1D6377BF196}"/>
              </a:ext>
            </a:extLst>
          </p:cNvPr>
          <p:cNvSpPr>
            <a:spLocks noGrp="1"/>
          </p:cNvSpPr>
          <p:nvPr/>
        </p:nvSpPr>
        <p:spPr>
          <a:xfrm>
            <a:off x="819150" y="1990725"/>
            <a:ext cx="10382250" cy="9525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9EC7E0-04D3-451A-9785-E89F2C47209E}"/>
              </a:ext>
            </a:extLst>
          </p:cNvPr>
          <p:cNvSpPr>
            <a:spLocks noGrp="1"/>
          </p:cNvSpPr>
          <p:nvPr/>
        </p:nvSpPr>
        <p:spPr>
          <a:xfrm>
            <a:off x="819150" y="2076450"/>
            <a:ext cx="2514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远端运行 env 被 destroy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319093-C0C8-44D1-9F37-CBC77FB94843}"/>
              </a:ext>
            </a:extLst>
          </p:cNvPr>
          <p:cNvSpPr>
            <a:spLocks noGrp="1"/>
          </p:cNvSpPr>
          <p:nvPr/>
        </p:nvSpPr>
        <p:spPr>
          <a:xfrm>
            <a:off x="3486150" y="2076450"/>
            <a:ext cx="3848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kill_pending + 目标 CPU 本地 free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FDCE56-E40F-4E4F-9C5B-E125BDBA4F71}"/>
              </a:ext>
            </a:extLst>
          </p:cNvPr>
          <p:cNvSpPr>
            <a:spLocks noGrp="1"/>
          </p:cNvSpPr>
          <p:nvPr/>
        </p:nvSpPr>
        <p:spPr>
          <a:xfrm>
            <a:off x="7486650" y="2076450"/>
            <a:ext cx="3562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lab6_5 / lab6_6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033381-E4E4-461B-8765-F3999AF9E4CE}"/>
              </a:ext>
            </a:extLst>
          </p:cNvPr>
          <p:cNvSpPr>
            <a:spLocks noGrp="1"/>
          </p:cNvSpPr>
          <p:nvPr/>
        </p:nvSpPr>
        <p:spPr>
          <a:xfrm>
            <a:off x="819150" y="2600325"/>
            <a:ext cx="1038225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EBE125-AE47-4909-8466-CBBAE01DE668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2514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 handler 直接 free 嵌套 IPI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3273D11-BC1F-4982-96B4-19F60CF8DE5B}"/>
              </a:ext>
            </a:extLst>
          </p:cNvPr>
          <p:cNvSpPr>
            <a:spLocks noGrp="1"/>
          </p:cNvSpPr>
          <p:nvPr/>
        </p:nvSpPr>
        <p:spPr>
          <a:xfrm>
            <a:off x="3486150" y="2686050"/>
            <a:ext cx="3848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handler 只 poke，释放放 schedule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571DFD-2DDF-4074-9EDF-59BC7E55F505}"/>
              </a:ext>
            </a:extLst>
          </p:cNvPr>
          <p:cNvSpPr>
            <a:spLocks noGrp="1"/>
          </p:cNvSpPr>
          <p:nvPr/>
        </p:nvSpPr>
        <p:spPr>
          <a:xfrm>
            <a:off x="7486650" y="2686050"/>
            <a:ext cx="3562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lab6_7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DA2A03-2EE9-4530-9521-1E771EFF7A41}"/>
              </a:ext>
            </a:extLst>
          </p:cNvPr>
          <p:cNvSpPr>
            <a:spLocks noGrp="1"/>
          </p:cNvSpPr>
          <p:nvPr/>
        </p:nvSpPr>
        <p:spPr>
          <a:xfrm>
            <a:off x="819150" y="3209925"/>
            <a:ext cx="1038225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DC18BA-2733-49CC-AAB8-070F52494C0E}"/>
              </a:ext>
            </a:extLst>
          </p:cNvPr>
          <p:cNvSpPr>
            <a:spLocks noGrp="1"/>
          </p:cNvSpPr>
          <p:nvPr/>
        </p:nvSpPr>
        <p:spPr>
          <a:xfrm>
            <a:off x="819150" y="3295650"/>
            <a:ext cx="2514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等待远端销毁被 timer 重入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A2A75B-9328-46FE-A591-05E9A043DBD9}"/>
              </a:ext>
            </a:extLst>
          </p:cNvPr>
          <p:cNvSpPr>
            <a:spLocks noGrp="1"/>
          </p:cNvSpPr>
          <p:nvPr/>
        </p:nvSpPr>
        <p:spPr>
          <a:xfrm>
            <a:off x="3486150" y="3295650"/>
            <a:ext cx="3848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等待期间临时关 STATUS_IE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E3A1345-2767-4F03-94E2-72FDE598636F}"/>
              </a:ext>
            </a:extLst>
          </p:cNvPr>
          <p:cNvSpPr>
            <a:spLocks noGrp="1"/>
          </p:cNvSpPr>
          <p:nvPr/>
        </p:nvSpPr>
        <p:spPr>
          <a:xfrm>
            <a:off x="7486650" y="3295650"/>
            <a:ext cx="3562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双向 destroy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D3DEDB1-3FAF-4E22-8BC2-5FB5ED60F455}"/>
              </a:ext>
            </a:extLst>
          </p:cNvPr>
          <p:cNvSpPr>
            <a:spLocks noGrp="1"/>
          </p:cNvSpPr>
          <p:nvPr/>
        </p:nvSpPr>
        <p:spPr>
          <a:xfrm>
            <a:off x="819150" y="3819525"/>
            <a:ext cx="1038225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DBE0D4-A8A5-429C-BC72-D374B0B361E7}"/>
              </a:ext>
            </a:extLst>
          </p:cNvPr>
          <p:cNvSpPr>
            <a:spLocks noGrp="1"/>
          </p:cNvSpPr>
          <p:nvPr/>
        </p:nvSpPr>
        <p:spPr>
          <a:xfrm>
            <a:off x="819150" y="3905250"/>
            <a:ext cx="2514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IPC 唤醒过早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02C1774-E265-476A-8825-7A8142559581}"/>
              </a:ext>
            </a:extLst>
          </p:cNvPr>
          <p:cNvSpPr>
            <a:spLocks noGrp="1"/>
          </p:cNvSpPr>
          <p:nvPr/>
        </p:nvSpPr>
        <p:spPr>
          <a:xfrm>
            <a:off x="3486150" y="3905250"/>
            <a:ext cx="3848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先完成 page_insert，再设 RUNNABLE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1F9D09E-1A26-4551-94EE-45FBC7FA7CAD}"/>
              </a:ext>
            </a:extLst>
          </p:cNvPr>
          <p:cNvSpPr>
            <a:spLocks noGrp="1"/>
          </p:cNvSpPr>
          <p:nvPr/>
        </p:nvSpPr>
        <p:spPr>
          <a:xfrm>
            <a:off x="7486650" y="3905250"/>
            <a:ext cx="3562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IPC + shell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15CB73D-8AFB-4A8B-B191-539C52C314A4}"/>
              </a:ext>
            </a:extLst>
          </p:cNvPr>
          <p:cNvSpPr>
            <a:spLocks noGrp="1"/>
          </p:cNvSpPr>
          <p:nvPr/>
        </p:nvSpPr>
        <p:spPr>
          <a:xfrm>
            <a:off x="819150" y="4429125"/>
            <a:ext cx="1038225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823539E-E808-41E2-9D59-19BE0F8F78ED}"/>
              </a:ext>
            </a:extLst>
          </p:cNvPr>
          <p:cNvSpPr>
            <a:spLocks noGrp="1"/>
          </p:cNvSpPr>
          <p:nvPr/>
        </p:nvSpPr>
        <p:spPr>
          <a:xfrm>
            <a:off x="819150" y="4514850"/>
            <a:ext cx="2514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从核过早调度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F7A2F4A-6223-477D-9991-D4E8153941E2}"/>
              </a:ext>
            </a:extLst>
          </p:cNvPr>
          <p:cNvSpPr>
            <a:spLocks noGrp="1"/>
          </p:cNvSpPr>
          <p:nvPr/>
        </p:nvSpPr>
        <p:spPr>
          <a:xfrm>
            <a:off x="3486150" y="4514850"/>
            <a:ext cx="38481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timer_schedule_ready 栅栏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382EF8C-09BE-4DF3-8C47-7DC0B26C9F57}"/>
              </a:ext>
            </a:extLst>
          </p:cNvPr>
          <p:cNvSpPr>
            <a:spLocks noGrp="1"/>
          </p:cNvSpPr>
          <p:nvPr/>
        </p:nvSpPr>
        <p:spPr>
          <a:xfrm>
            <a:off x="7486650" y="4514850"/>
            <a:ext cx="3562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[1] slave online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4508B55-D70A-4930-9CB7-ED5529FBACF3}"/>
              </a:ext>
            </a:extLst>
          </p:cNvPr>
          <p:cNvSpPr>
            <a:spLocks noGrp="1"/>
          </p:cNvSpPr>
          <p:nvPr/>
        </p:nvSpPr>
        <p:spPr>
          <a:xfrm>
            <a:off x="1828800" y="5124449"/>
            <a:ext cx="8191500" cy="1114423"/>
          </a:xfrm>
          <a:prstGeom prst="roundRect">
            <a:avLst>
              <a:gd name="adj" fmla="val 9302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4438079-3D42-4615-A484-0F0BA7AE0753}"/>
              </a:ext>
            </a:extLst>
          </p:cNvPr>
          <p:cNvSpPr>
            <a:spLocks noGrp="1"/>
          </p:cNvSpPr>
          <p:nvPr/>
        </p:nvSpPr>
        <p:spPr>
          <a:xfrm>
            <a:off x="2019300" y="5257799"/>
            <a:ext cx="7810500" cy="2622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 dirty="0" err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验证入口</a:t>
            </a:r>
            <a:endParaRPr sz="1125" b="1" dirty="0">
              <a:solidFill>
                <a:srgbClr val="93C5FD"/>
              </a:solidFill>
              <a:latin typeface="Cascadia Mono"/>
              <a:ea typeface="Cascadia Mono"/>
              <a:cs typeface="Cascadia Mono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9AA59C7-24AC-4DE9-A893-24224ECA24CE}"/>
              </a:ext>
            </a:extLst>
          </p:cNvPr>
          <p:cNvSpPr>
            <a:spLocks noGrp="1"/>
          </p:cNvSpPr>
          <p:nvPr/>
        </p:nvSpPr>
        <p:spPr>
          <a:xfrm>
            <a:off x="2019300" y="5562600"/>
            <a:ext cx="7810500" cy="305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make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 test lab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6_2</a:t>
            </a:r>
          </a:p>
          <a:p>
            <a:pPr algn="l">
              <a:lnSpc>
                <a:spcPct val="90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make run</a:t>
            </a:r>
          </a:p>
          <a:p>
            <a:pPr algn="l">
              <a:lnSpc>
                <a:spcPct val="90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sh testshell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.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sh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74B8F62-C311-41EC-BCA7-B8FD14828BF7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4507A82-1C93-4153-8CA6-D23FE2D83E2F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10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多核移植实现</a:t>
            </a: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/ 11</a:t>
            </a:r>
          </a:p>
        </p:txBody>
      </p:sp>
    </p:spTree>
    <p:extLst>
      <p:ext uri="{BB962C8B-B14F-4D97-AF65-F5344CB8AC3E}">
        <p14:creationId xmlns:p14="http://schemas.microsoft.com/office/powerpoint/2010/main" val="1284535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EEF634E-4063-44C2-B341-97A2F23E389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0AD32B-8033-41EC-AE15-0298931ACDF0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验证：双核启动与</a:t>
            </a:r>
            <a:r>
              <a:rPr sz="345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IPI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B2E74AE-C2EC-4E46-AA34-B3BF53F1A285}"/>
              </a:ext>
            </a:extLst>
          </p:cNvPr>
          <p:cNvSpPr>
            <a:spLocks noGrp="1"/>
          </p:cNvSpPr>
          <p:nvPr/>
        </p:nvSpPr>
        <p:spPr>
          <a:xfrm>
            <a:off x="609599" y="1695449"/>
            <a:ext cx="11299371" cy="2686049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2292" y="1403935"/>
            <a:ext cx="12020087" cy="3434309"/>
          </a:xfrm>
          <a:prstGeom prst="roundRect">
            <a:avLst>
              <a:gd name="adj" fmla="val 4211"/>
            </a:avLst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F4901AB-08C5-40EF-9FB6-D46CD26B0EFC}"/>
              </a:ext>
            </a:extLst>
          </p:cNvPr>
          <p:cNvSpPr>
            <a:spLocks noGrp="1"/>
          </p:cNvSpPr>
          <p:nvPr/>
        </p:nvSpPr>
        <p:spPr>
          <a:xfrm>
            <a:off x="3524250" y="4935212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默认双核启动</a:t>
            </a:r>
            <a:r>
              <a:rPr sz="1425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+ 100 次 IPI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F3FB7A7-3403-49C7-9A1E-CF2D6030A361}"/>
              </a:ext>
            </a:extLst>
          </p:cNvPr>
          <p:cNvSpPr>
            <a:spLocks noGrp="1"/>
          </p:cNvSpPr>
          <p:nvPr/>
        </p:nvSpPr>
        <p:spPr>
          <a:xfrm>
            <a:off x="6343650" y="37147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F81F8E-0395-4E5C-9472-ECD5155D513F}"/>
              </a:ext>
            </a:extLst>
          </p:cNvPr>
          <p:cNvSpPr>
            <a:spLocks noGrp="1"/>
          </p:cNvSpPr>
          <p:nvPr/>
        </p:nvSpPr>
        <p:spPr>
          <a:xfrm>
            <a:off x="932543" y="5400675"/>
            <a:ext cx="9715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marL="24" indent="-14" algn="l">
              <a:lnSpc>
                <a:spcPct val="112000"/>
              </a:lnSpc>
              <a:buNone/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从核上线后，CPU0 </a:t>
            </a: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可稳定让</a:t>
            </a:r>
            <a:r>
              <a:rPr sz="1575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CPU1 </a:t>
            </a: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执行远程函数</a:t>
            </a:r>
            <a:endParaRPr sz="1575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  <a:p>
            <a:pPr marL="24" indent="-14" algn="l">
              <a:lnSpc>
                <a:spcPct val="112000"/>
              </a:lnSpc>
              <a:buNone/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双向嵌套</a:t>
            </a:r>
            <a:r>
              <a:rPr sz="1575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IPI </a:t>
            </a: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用于说明等待期间主动处理</a:t>
            </a:r>
            <a:r>
              <a:rPr sz="1575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pending IPI </a:t>
            </a: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的必要性</a:t>
            </a:r>
            <a:endParaRPr sz="1575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7E93246-D432-4714-A735-3691C6F46873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68F8D1-E854-4F16-B05B-8765867D8103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10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多核移植实现</a:t>
            </a: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/ 12</a:t>
            </a:r>
          </a:p>
        </p:txBody>
      </p:sp>
    </p:spTree>
    <p:extLst>
      <p:ext uri="{BB962C8B-B14F-4D97-AF65-F5344CB8AC3E}">
        <p14:creationId xmlns:p14="http://schemas.microsoft.com/office/powerpoint/2010/main" val="1965531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EEF634E-4063-44C2-B341-97A2F23E389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0AD32B-8033-41EC-AE15-0298931ACDF0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验证：双核启动与</a:t>
            </a:r>
            <a:r>
              <a:rPr sz="345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IPI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4901AB-08C5-40EF-9FB6-D46CD26B0EFC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2014024-36AB-416C-A523-F83947AE0995}"/>
              </a:ext>
            </a:extLst>
          </p:cNvPr>
          <p:cNvSpPr>
            <a:spLocks noGrp="1"/>
          </p:cNvSpPr>
          <p:nvPr/>
        </p:nvSpPr>
        <p:spPr>
          <a:xfrm>
            <a:off x="348343" y="1695450"/>
            <a:ext cx="11234057" cy="369570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932" y="1562100"/>
            <a:ext cx="12092135" cy="3385457"/>
          </a:xfrm>
          <a:prstGeom prst="roundRect">
            <a:avLst>
              <a:gd name="adj" fmla="val 4211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F3FB7A7-3403-49C7-9A1E-CF2D6030A361}"/>
              </a:ext>
            </a:extLst>
          </p:cNvPr>
          <p:cNvSpPr>
            <a:spLocks noGrp="1"/>
          </p:cNvSpPr>
          <p:nvPr/>
        </p:nvSpPr>
        <p:spPr>
          <a:xfrm>
            <a:off x="3524250" y="5099957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强 IPI </a:t>
            </a:r>
            <a:r>
              <a:rPr sz="1425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双向嵌套测试</a:t>
            </a:r>
            <a:endParaRPr sz="1425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F81F8E-0395-4E5C-9472-ECD5155D513F}"/>
              </a:ext>
            </a:extLst>
          </p:cNvPr>
          <p:cNvSpPr>
            <a:spLocks noGrp="1"/>
          </p:cNvSpPr>
          <p:nvPr/>
        </p:nvSpPr>
        <p:spPr>
          <a:xfrm>
            <a:off x="990600" y="5600700"/>
            <a:ext cx="9715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marL="24" indent="-14" algn="l">
              <a:lnSpc>
                <a:spcPct val="112000"/>
              </a:lnSpc>
              <a:buNone/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从核上线后，CPU0 </a:t>
            </a: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可稳定让</a:t>
            </a:r>
            <a:r>
              <a:rPr sz="1575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CPU1 </a:t>
            </a: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执行远程函数</a:t>
            </a:r>
            <a:endParaRPr sz="1575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  <a:p>
            <a:pPr marL="24" indent="-14" algn="l">
              <a:lnSpc>
                <a:spcPct val="112000"/>
              </a:lnSpc>
              <a:buNone/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双向嵌套</a:t>
            </a:r>
            <a:r>
              <a:rPr sz="1575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IPI </a:t>
            </a: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用于说明等待期间主动处理</a:t>
            </a:r>
            <a:r>
              <a:rPr sz="1575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pending IPI </a:t>
            </a: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的必要性</a:t>
            </a:r>
            <a:endParaRPr sz="1575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7E93246-D432-4714-A735-3691C6F46873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68F8D1-E854-4F16-B05B-8765867D8103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10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多核移植实现</a:t>
            </a: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/ 12</a:t>
            </a:r>
          </a:p>
        </p:txBody>
      </p:sp>
    </p:spTree>
    <p:extLst>
      <p:ext uri="{BB962C8B-B14F-4D97-AF65-F5344CB8AC3E}">
        <p14:creationId xmlns:p14="http://schemas.microsoft.com/office/powerpoint/2010/main" val="175671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85A3BD6-F662-42A9-A08A-D7A8CF93BB27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730045-1B0D-4217-9C4F-73088D04F8D3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验证：调度与</a:t>
            </a:r>
            <a:r>
              <a:rPr sz="345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SHELL </a:t>
            </a:r>
            <a:r>
              <a:rPr sz="345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工作流</a:t>
            </a:r>
            <a:endParaRPr sz="3450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9727" y="1327150"/>
            <a:ext cx="11852545" cy="3928836"/>
          </a:xfrm>
          <a:prstGeom prst="roundRect">
            <a:avLst>
              <a:gd name="adj" fmla="val 4211"/>
            </a:avLst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FCDC9A1-AE7E-4C41-8543-3C1A409E294D}"/>
              </a:ext>
            </a:extLst>
          </p:cNvPr>
          <p:cNvSpPr>
            <a:spLocks noGrp="1"/>
          </p:cNvSpPr>
          <p:nvPr/>
        </p:nvSpPr>
        <p:spPr>
          <a:xfrm>
            <a:off x="3524249" y="531109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多核调度真实发生</a:t>
            </a:r>
            <a:endParaRPr sz="1425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EFD549-6F28-4E24-880D-2C847432A50B}"/>
              </a:ext>
            </a:extLst>
          </p:cNvPr>
          <p:cNvSpPr>
            <a:spLocks noGrp="1"/>
          </p:cNvSpPr>
          <p:nvPr/>
        </p:nvSpPr>
        <p:spPr>
          <a:xfrm>
            <a:off x="990600" y="5629275"/>
            <a:ext cx="9715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marL="24" indent="-14" algn="l">
              <a:lnSpc>
                <a:spcPct val="112000"/>
              </a:lnSpc>
              <a:buNone/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调度日志中出现</a:t>
            </a:r>
            <a:r>
              <a:rPr sz="1575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CPU0/CPU1，说明普通用户进程确实进入多核调度路径</a:t>
            </a:r>
          </a:p>
          <a:p>
            <a:pPr marL="24" indent="-14" algn="l">
              <a:lnSpc>
                <a:spcPct val="112000"/>
              </a:lnSpc>
              <a:buNone/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SHELL </a:t>
            </a: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演示覆盖文件系统服务、脚本、管道</a:t>
            </a:r>
            <a:r>
              <a:rPr sz="1575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重定向等用户态路径</a:t>
            </a:r>
            <a:endParaRPr sz="1575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1E79E7-13E0-41F7-A688-B64548F106D2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F21B10-FF87-4CCC-B0D8-DF28018DCA1F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10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多核移植实现</a:t>
            </a: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/ 13</a:t>
            </a:r>
          </a:p>
        </p:txBody>
      </p:sp>
    </p:spTree>
    <p:extLst>
      <p:ext uri="{BB962C8B-B14F-4D97-AF65-F5344CB8AC3E}">
        <p14:creationId xmlns:p14="http://schemas.microsoft.com/office/powerpoint/2010/main" val="1820698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85A3BD6-F662-42A9-A08A-D7A8CF93BB27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730045-1B0D-4217-9C4F-73088D04F8D3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验证：调度与</a:t>
            </a:r>
            <a:r>
              <a:rPr sz="345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SHELL </a:t>
            </a:r>
            <a:r>
              <a:rPr sz="345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工作流</a:t>
            </a:r>
            <a:endParaRPr sz="3450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CDC9A1-AE7E-4C41-8543-3C1A409E294D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EFD549-6F28-4E24-880D-2C847432A50B}"/>
              </a:ext>
            </a:extLst>
          </p:cNvPr>
          <p:cNvSpPr>
            <a:spLocks noGrp="1"/>
          </p:cNvSpPr>
          <p:nvPr/>
        </p:nvSpPr>
        <p:spPr>
          <a:xfrm>
            <a:off x="990600" y="5553075"/>
            <a:ext cx="9715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marL="24" indent="-14" algn="l">
              <a:lnSpc>
                <a:spcPct val="112000"/>
              </a:lnSpc>
              <a:buNone/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endParaRPr sz="1575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1E79E7-13E0-41F7-A688-B64548F106D2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F21B10-FF87-4CCC-B0D8-DF28018DCA1F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多核移植实现答辩 / 13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345497"/>
            <a:ext cx="11154227" cy="5357542"/>
          </a:xfrm>
          <a:prstGeom prst="roundRect">
            <a:avLst>
              <a:gd name="adj" fmla="val 4211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DBA986F-9EAF-464D-B04E-80971C374552}"/>
              </a:ext>
            </a:extLst>
          </p:cNvPr>
          <p:cNvSpPr>
            <a:spLocks noGrp="1"/>
          </p:cNvSpPr>
          <p:nvPr/>
        </p:nvSpPr>
        <p:spPr>
          <a:xfrm>
            <a:off x="3618140" y="6353175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chemeClr val="bg1"/>
                </a:solidFill>
                <a:latin typeface="Microsoft YaHei"/>
                <a:ea typeface="Microsoft YaHei"/>
                <a:cs typeface="Microsoft YaHei"/>
              </a:rPr>
              <a:t>SHELL、文件系统和用户态工作流</a:t>
            </a:r>
            <a:endParaRPr sz="1425" b="1" dirty="0">
              <a:solidFill>
                <a:schemeClr val="bg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91064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DE01DDF-C984-4C68-B6E8-C1AF113CE54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871139-07DF-4800-836B-0DB60B4CB667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验证：远端</a:t>
            </a:r>
            <a:r>
              <a:rPr sz="345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env </a:t>
            </a:r>
            <a:r>
              <a:rPr sz="345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生命周期安全</a:t>
            </a:r>
            <a:endParaRPr sz="3450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D3F5C86-5AF1-4571-85EE-C56E14896E47}"/>
              </a:ext>
            </a:extLst>
          </p:cNvPr>
          <p:cNvSpPr>
            <a:spLocks noGrp="1"/>
          </p:cNvSpPr>
          <p:nvPr/>
        </p:nvSpPr>
        <p:spPr>
          <a:xfrm>
            <a:off x="226682" y="1421272"/>
            <a:ext cx="11752572" cy="3646028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9563" y="1689697"/>
            <a:ext cx="11739691" cy="2317707"/>
          </a:xfrm>
          <a:prstGeom prst="roundRect">
            <a:avLst>
              <a:gd name="adj" fmla="val 3922"/>
            </a:avLst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4DEED5F-572F-400F-A54B-1A66A41665B1}"/>
              </a:ext>
            </a:extLst>
          </p:cNvPr>
          <p:cNvSpPr>
            <a:spLocks noGrp="1"/>
          </p:cNvSpPr>
          <p:nvPr/>
        </p:nvSpPr>
        <p:spPr>
          <a:xfrm>
            <a:off x="1181100" y="4646973"/>
            <a:ext cx="982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远端</a:t>
            </a:r>
            <a:r>
              <a:rPr sz="1425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env </a:t>
            </a:r>
            <a:r>
              <a:rPr sz="1425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销毁和生命周期安全</a:t>
            </a:r>
            <a:endParaRPr sz="1425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8C04AC-6102-4172-AB9A-FDD7FC9A253E}"/>
              </a:ext>
            </a:extLst>
          </p:cNvPr>
          <p:cNvSpPr>
            <a:spLocks noGrp="1"/>
          </p:cNvSpPr>
          <p:nvPr/>
        </p:nvSpPr>
        <p:spPr>
          <a:xfrm>
            <a:off x="1524000" y="5105400"/>
            <a:ext cx="9144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marL="24" indent="-14" algn="l">
              <a:lnSpc>
                <a:spcPct val="112000"/>
              </a:lnSpc>
              <a:buNone/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验证点：</a:t>
            </a:r>
            <a:r>
              <a:rPr sz="150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目标</a:t>
            </a:r>
            <a:r>
              <a:rPr sz="150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env </a:t>
            </a:r>
            <a:r>
              <a:rPr sz="150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正在其他</a:t>
            </a:r>
            <a:r>
              <a:rPr sz="150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CPU </a:t>
            </a:r>
            <a:r>
              <a:rPr sz="150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运行时，不由发起</a:t>
            </a:r>
            <a:r>
              <a:rPr sz="150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CPU </a:t>
            </a:r>
            <a:r>
              <a:rPr sz="150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直接释放</a:t>
            </a:r>
            <a:endParaRPr sz="1500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  <a:p>
            <a:pPr marL="24" indent="-14" algn="l">
              <a:lnSpc>
                <a:spcPct val="112000"/>
              </a:lnSpc>
              <a:buNone/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安全点：</a:t>
            </a:r>
            <a:r>
              <a:rPr sz="150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</a:t>
            </a:r>
            <a:r>
              <a:rPr sz="150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handler 只 </a:t>
            </a:r>
            <a:r>
              <a:rPr sz="150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poke，目标</a:t>
            </a:r>
            <a:r>
              <a:rPr sz="150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CPU 在 schedule </a:t>
            </a:r>
            <a:r>
              <a:rPr sz="150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路径本地</a:t>
            </a:r>
            <a:r>
              <a:rPr sz="150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env_free</a:t>
            </a:r>
            <a:endParaRPr sz="1500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  <a:p>
            <a:pPr marL="24" indent="-14" algn="l">
              <a:lnSpc>
                <a:spcPct val="112000"/>
              </a:lnSpc>
              <a:buNone/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竞态修复：</a:t>
            </a:r>
            <a:r>
              <a:rPr sz="150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等待远端销毁时临时关</a:t>
            </a:r>
            <a:r>
              <a:rPr sz="150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timer </a:t>
            </a:r>
            <a:r>
              <a:rPr sz="150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中断，但仍主动处理</a:t>
            </a:r>
            <a:r>
              <a:rPr sz="150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pending IPI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F8967D-0D80-4E13-A199-D45F0B45593E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3A96DF-3168-4FD2-AD36-9E35EA8CE0B9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10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多核移植实现</a:t>
            </a: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/ 14</a:t>
            </a:r>
          </a:p>
        </p:txBody>
      </p:sp>
    </p:spTree>
    <p:extLst>
      <p:ext uri="{BB962C8B-B14F-4D97-AF65-F5344CB8AC3E}">
        <p14:creationId xmlns:p14="http://schemas.microsoft.com/office/powerpoint/2010/main" val="729006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552A64AA-E988-4C41-9675-F122FABAA594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DC0C60-6937-4307-9557-452A0751425C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人员分工与协作边界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1C4521B-5D79-4814-B2B8-E748D66AC897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4953000" cy="3238500"/>
          </a:xfrm>
          <a:prstGeom prst="roundRect">
            <a:avLst>
              <a:gd name="adj" fmla="val 2353"/>
            </a:avLst>
          </a:prstGeom>
          <a:solidFill>
            <a:srgbClr val="EFF6FF"/>
          </a:solidFill>
          <a:ln w="11430">
            <a:solidFill>
              <a:srgbClr val="93C5FD"/>
            </a:solidFill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29824B1-0D4A-41E0-9622-C12456D725C5}"/>
              </a:ext>
            </a:extLst>
          </p:cNvPr>
          <p:cNvSpPr>
            <a:spLocks noGrp="1"/>
          </p:cNvSpPr>
          <p:nvPr/>
        </p:nvSpPr>
        <p:spPr>
          <a:xfrm>
            <a:off x="6419850" y="1657350"/>
            <a:ext cx="4953000" cy="3238500"/>
          </a:xfrm>
          <a:prstGeom prst="roundRect">
            <a:avLst>
              <a:gd name="adj" fmla="val 2353"/>
            </a:avLst>
          </a:prstGeom>
          <a:solidFill>
            <a:srgbClr val="ECFDF5"/>
          </a:solidFill>
          <a:ln w="11430">
            <a:solidFill>
              <a:srgbClr val="86EFAC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62B87D-783F-4348-B97C-65E962942593}"/>
              </a:ext>
            </a:extLst>
          </p:cNvPr>
          <p:cNvSpPr>
            <a:spLocks noGrp="1"/>
          </p:cNvSpPr>
          <p:nvPr/>
        </p:nvSpPr>
        <p:spPr>
          <a:xfrm>
            <a:off x="1123950" y="194310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杨璞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0C1870-3A69-4229-9043-F51833ED3141}"/>
              </a:ext>
            </a:extLst>
          </p:cNvPr>
          <p:cNvSpPr>
            <a:spLocks noGrp="1"/>
          </p:cNvSpPr>
          <p:nvPr/>
        </p:nvSpPr>
        <p:spPr>
          <a:xfrm>
            <a:off x="1123950" y="23812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启动 / per-CPU / IPI / 异常中断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FCA74F-3655-41EF-9807-E4C2D784A0D5}"/>
              </a:ext>
            </a:extLst>
          </p:cNvPr>
          <p:cNvSpPr>
            <a:spLocks noGrp="1"/>
          </p:cNvSpPr>
          <p:nvPr/>
        </p:nvSpPr>
        <p:spPr>
          <a:xfrm>
            <a:off x="1162050" y="2914650"/>
            <a:ext cx="40005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marL="24" indent="-14" algn="l">
              <a:lnSpc>
                <a:spcPct val="112000"/>
              </a:lnSpc>
              <a:buNone/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QEMU 双核启动参数与 _start 主从分流</a:t>
            </a:r>
          </a:p>
          <a:p>
            <a:pPr marL="24" indent="-14" algn="l">
              <a:lnSpc>
                <a:spcPct val="112000"/>
              </a:lnSpc>
              <a:buNone/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每核状态、独立内核栈、异常入口栈切换</a:t>
            </a:r>
          </a:p>
          <a:p>
            <a:pPr marL="24" indent="-14" algn="l">
              <a:lnSpc>
                <a:spcPct val="112000"/>
              </a:lnSpc>
              <a:buNone/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 mailbox、远程函数调用、timer/IPI 中断分流</a:t>
            </a:r>
          </a:p>
          <a:p>
            <a:pPr marL="24" indent="-14" algn="l">
              <a:lnSpc>
                <a:spcPct val="112000"/>
              </a:lnSpc>
              <a:buNone/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spinlock/console 等基础同步支撑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0BF5E1-FE37-4E85-A2FA-441FE67FE0DA}"/>
              </a:ext>
            </a:extLst>
          </p:cNvPr>
          <p:cNvSpPr>
            <a:spLocks noGrp="1"/>
          </p:cNvSpPr>
          <p:nvPr/>
        </p:nvSpPr>
        <p:spPr>
          <a:xfrm>
            <a:off x="6724650" y="194310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李昊泽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16174E-EFA1-49D6-AB26-924D886C0706}"/>
              </a:ext>
            </a:extLst>
          </p:cNvPr>
          <p:cNvSpPr>
            <a:spLocks noGrp="1"/>
          </p:cNvSpPr>
          <p:nvPr/>
        </p:nvSpPr>
        <p:spPr>
          <a:xfrm>
            <a:off x="6724650" y="238125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内存 / TLB / 调度 / FS 策略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288532-CE03-4310-A5F1-0E6B588D2765}"/>
              </a:ext>
            </a:extLst>
          </p:cNvPr>
          <p:cNvSpPr>
            <a:spLocks noGrp="1"/>
          </p:cNvSpPr>
          <p:nvPr/>
        </p:nvSpPr>
        <p:spPr>
          <a:xfrm>
            <a:off x="6762750" y="2914650"/>
            <a:ext cx="40005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marL="24" indent="-14" algn="l">
              <a:lnSpc>
                <a:spcPct val="112000"/>
              </a:lnSpc>
              <a:buNone/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 SMP 字段、调度队列锁与每核时间片</a:t>
            </a:r>
          </a:p>
          <a:p>
            <a:pPr marL="24" indent="-14" algn="l">
              <a:lnSpc>
                <a:spcPct val="112000"/>
              </a:lnSpc>
              <a:buNone/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pmap_lock、页表修改与 TLB shootdown</a:t>
            </a:r>
          </a:p>
          <a:p>
            <a:pPr marL="24" indent="-14" algn="l">
              <a:lnSpc>
                <a:spcPct val="112000"/>
              </a:lnSpc>
              <a:buNone/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远端 env destroy 生命周期安全</a:t>
            </a:r>
          </a:p>
          <a:p>
            <a:pPr marL="24" indent="-14" algn="l">
              <a:lnSpc>
                <a:spcPct val="112000"/>
              </a:lnSpc>
              <a:buNone/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fs_serv CPU0 绑定、IDE/console 设备访问约束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F546AC8-C6B7-4E88-9C6F-512CE166DC97}"/>
              </a:ext>
            </a:extLst>
          </p:cNvPr>
          <p:cNvSpPr>
            <a:spLocks noGrp="1"/>
          </p:cNvSpPr>
          <p:nvPr/>
        </p:nvSpPr>
        <p:spPr>
          <a:xfrm>
            <a:off x="1504950" y="5257800"/>
            <a:ext cx="9182100" cy="8001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90CFD9-6240-4D82-A397-5977D597E478}"/>
              </a:ext>
            </a:extLst>
          </p:cNvPr>
          <p:cNvSpPr>
            <a:spLocks noGrp="1"/>
          </p:cNvSpPr>
          <p:nvPr/>
        </p:nvSpPr>
        <p:spPr>
          <a:xfrm>
            <a:off x="1809750" y="5410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8000"/>
              </a:lnSpc>
              <a:buNone/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共同修改区：include</a:t>
            </a:r>
            <a:r>
              <a:rPr sz="1575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smp.h、spinlock、mmu</a:t>
            </a:r>
            <a:r>
              <a:rPr sz="1575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/trap </a:t>
            </a: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接口等先建接口再使用</a:t>
            </a:r>
            <a:r>
              <a:rPr sz="1575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；</a:t>
            </a:r>
            <a:endParaRPr lang="en-US" sz="1575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8000"/>
              </a:lnSpc>
              <a:buNone/>
              <a:defRPr sz="157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共享文件按模块追加声明，避免重排造成冲突</a:t>
            </a:r>
            <a:r>
              <a:rPr sz="1575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897A47-9F52-4392-A791-9D7A95E05EFF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F0BF45-9C06-4CD5-9B8E-C2BD2AE3119B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10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多核移植实现</a:t>
            </a: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/ 15</a:t>
            </a:r>
          </a:p>
        </p:txBody>
      </p:sp>
    </p:spTree>
    <p:extLst>
      <p:ext uri="{BB962C8B-B14F-4D97-AF65-F5344CB8AC3E}">
        <p14:creationId xmlns:p14="http://schemas.microsoft.com/office/powerpoint/2010/main" val="1746730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7B18970-45DA-47D8-A26F-889655F87D5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E8CFBA-5043-4FB6-BE6E-B9F8A3CB1CE8}"/>
              </a:ext>
            </a:extLst>
          </p:cNvPr>
          <p:cNvSpPr>
            <a:spLocks noGrp="1"/>
          </p:cNvSpPr>
          <p:nvPr/>
        </p:nvSpPr>
        <p:spPr>
          <a:xfrm>
            <a:off x="666750" y="8001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总结：实现完整，路线</a:t>
            </a:r>
            <a:r>
              <a:rPr lang="zh-CN" altLang="en-US" sz="345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有</a:t>
            </a:r>
            <a:r>
              <a:rPr sz="345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平台化取舍</a:t>
            </a:r>
            <a:endParaRPr sz="3450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6BE7A6-C0F4-453B-A939-B728D36F9894}"/>
              </a:ext>
            </a:extLst>
          </p:cNvPr>
          <p:cNvSpPr>
            <a:spLocks noGrp="1"/>
          </p:cNvSpPr>
          <p:nvPr/>
        </p:nvSpPr>
        <p:spPr>
          <a:xfrm>
            <a:off x="1143000" y="1790700"/>
            <a:ext cx="87630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marL="24" indent="-14" algn="l">
              <a:lnSpc>
                <a:spcPct val="124000"/>
              </a:lnSpc>
              <a:buNone/>
              <a:defRPr sz="20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SMP 基础：</a:t>
            </a:r>
            <a:r>
              <a:rPr sz="20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两核启动、独立栈、per-CPU curenv/pgdir/time slice</a:t>
            </a:r>
          </a:p>
          <a:p>
            <a:pPr marL="24" indent="-14" algn="l">
              <a:lnSpc>
                <a:spcPct val="124000"/>
              </a:lnSpc>
              <a:buNone/>
              <a:defRPr sz="20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同步核心：</a:t>
            </a:r>
            <a:r>
              <a:rPr sz="20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spinlock + mailbox IPI + TLB shootdown</a:t>
            </a:r>
          </a:p>
          <a:p>
            <a:pPr marL="24" indent="-14" algn="l">
              <a:lnSpc>
                <a:spcPct val="124000"/>
              </a:lnSpc>
              <a:buNone/>
              <a:defRPr sz="20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调度安全：</a:t>
            </a:r>
            <a:r>
              <a:rPr sz="20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env_running/env_cpu_id/kill_pending 关闭关键竞态</a:t>
            </a:r>
          </a:p>
          <a:p>
            <a:pPr marL="24" indent="-14" algn="l">
              <a:lnSpc>
                <a:spcPct val="124000"/>
              </a:lnSpc>
              <a:buNone/>
              <a:defRPr sz="20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工程边界：</a:t>
            </a:r>
            <a:r>
              <a:rPr sz="20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fs_serv 固定 CPU0，设备访问串行化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65FC1D-2CCE-4E79-BD66-E7FD4F1B096A}"/>
              </a:ext>
            </a:extLst>
          </p:cNvPr>
          <p:cNvSpPr>
            <a:spLocks noGrp="1"/>
          </p:cNvSpPr>
          <p:nvPr/>
        </p:nvSpPr>
        <p:spPr>
          <a:xfrm>
            <a:off x="1143000" y="4514850"/>
            <a:ext cx="8953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97D674-69F8-47AD-97CD-7B895AA45CE6}"/>
              </a:ext>
            </a:extLst>
          </p:cNvPr>
          <p:cNvSpPr>
            <a:spLocks noGrp="1"/>
          </p:cNvSpPr>
          <p:nvPr/>
        </p:nvSpPr>
        <p:spPr>
          <a:xfrm>
            <a:off x="1143000" y="4876800"/>
            <a:ext cx="9334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在保持 </a:t>
            </a:r>
            <a:r>
              <a:rPr sz="225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225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语义的前提下适配</a:t>
            </a:r>
            <a:r>
              <a:rPr sz="2250" b="1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QEMU </a:t>
            </a:r>
            <a:r>
              <a:rPr sz="2250" b="1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平台与课程内核复杂度</a:t>
            </a:r>
            <a:endParaRPr sz="2250" b="1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AC1391-9233-4F5E-B448-621131F317DD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108585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30E7E4-2792-47AE-A71E-500C6BF0BEDD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</a:t>
            </a:r>
            <a:r>
              <a:rPr sz="105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多核移植实现</a:t>
            </a:r>
            <a:r>
              <a:rPr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 / 16</a:t>
            </a:r>
          </a:p>
        </p:txBody>
      </p:sp>
    </p:spTree>
    <p:extLst>
      <p:ext uri="{BB962C8B-B14F-4D97-AF65-F5344CB8AC3E}">
        <p14:creationId xmlns:p14="http://schemas.microsoft.com/office/powerpoint/2010/main" val="120444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2829</Words>
  <Application>Microsoft Office PowerPoint</Application>
  <DocSecurity>0</DocSecurity>
  <PresentationFormat>宽屏</PresentationFormat>
  <Paragraphs>371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Microsoft YaHei</vt:lpstr>
      <vt:lpstr>Calibri</vt:lpstr>
      <vt:lpstr>Cascadia Mono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璞 杨</cp:lastModifiedBy>
  <cp:revision>3</cp:revision>
  <dcterms:created xsi:type="dcterms:W3CDTF">2026-06-28T08:30:41Z</dcterms:created>
  <dcterms:modified xsi:type="dcterms:W3CDTF">2026-06-28T11:28:42Z</dcterms:modified>
</cp:coreProperties>
</file>