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150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D18B551-BCE5-4FD3-B4A2-C4BA671CA5FC}"/>
              </a:ext>
            </a:extLst>
          </p:cNvPr>
          <p:cNvSpPr>
            <a:spLocks noGrp="1"/>
          </p:cNvSpPr>
          <p:nvPr/>
        </p:nvSpPr>
        <p:spPr>
          <a:xfrm>
            <a:off x="685800" y="914400"/>
            <a:ext cx="7905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从单核 MOS 到双核 SMP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3A1006-1F3A-4549-85AD-6D705263DA26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北航 OS 挑战性任务答辩：MIPS 24Kc / QEMU Malta / 2 vCPU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9EB613-9EEF-4602-8BF5-4C0D3215B357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核心观点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17ABEC5-E9F4-4062-AD55-F49680E2FDE1}"/>
              </a:ext>
            </a:extLst>
          </p:cNvPr>
          <p:cNvSpPr>
            <a:spLocks noGrp="1"/>
          </p:cNvSpPr>
          <p:nvPr/>
        </p:nvSpPr>
        <p:spPr>
          <a:xfrm>
            <a:off x="723900" y="310515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多核改造不是“让 CPU1 跑起来”，而是把单核时代隐藏的共享状态显式化：每核状态、锁、IPI、TLB shootdown、调度占用和 env 生命周期。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722B03E9-FE82-4622-9546-4A44EF36B974}"/>
              </a:ext>
            </a:extLst>
          </p:cNvPr>
          <p:cNvSpPr>
            <a:spLocks noGrp="1"/>
          </p:cNvSpPr>
          <p:nvPr/>
        </p:nvSpPr>
        <p:spPr>
          <a:xfrm>
            <a:off x="8782050" y="857250"/>
            <a:ext cx="2381250" cy="2381250"/>
          </a:xfrm>
          <a:prstGeom prst="roundRect">
            <a:avLst>
              <a:gd name="adj" fmla="val 3200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723062-235D-476F-8A65-115B272E6E2B}"/>
              </a:ext>
            </a:extLst>
          </p:cNvPr>
          <p:cNvSpPr>
            <a:spLocks noGrp="1"/>
          </p:cNvSpPr>
          <p:nvPr/>
        </p:nvSpPr>
        <p:spPr>
          <a:xfrm>
            <a:off x="9315450" y="1304925"/>
            <a:ext cx="1257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5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CPU0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D82A5E-55B7-4A11-A77D-82C30A0499BE}"/>
              </a:ext>
            </a:extLst>
          </p:cNvPr>
          <p:cNvSpPr>
            <a:spLocks noGrp="1"/>
          </p:cNvSpPr>
          <p:nvPr/>
        </p:nvSpPr>
        <p:spPr>
          <a:xfrm>
            <a:off x="9067800" y="1809750"/>
            <a:ext cx="1809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init / schedule / IPI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9BCA225-2A73-4F11-A752-98A922D1D562}"/>
              </a:ext>
            </a:extLst>
          </p:cNvPr>
          <p:cNvSpPr>
            <a:spLocks noGrp="1"/>
          </p:cNvSpPr>
          <p:nvPr/>
        </p:nvSpPr>
        <p:spPr>
          <a:xfrm>
            <a:off x="9410700" y="3524250"/>
            <a:ext cx="1333500" cy="13335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7F75C1E-2765-46F0-8595-3C27260AD3C3}"/>
              </a:ext>
            </a:extLst>
          </p:cNvPr>
          <p:cNvSpPr>
            <a:spLocks noGrp="1"/>
          </p:cNvSpPr>
          <p:nvPr/>
        </p:nvSpPr>
        <p:spPr>
          <a:xfrm>
            <a:off x="9582150" y="3857625"/>
            <a:ext cx="990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025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CPU1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F71C4B9-32A5-4D0C-85CD-AF64B402F88E}"/>
              </a:ext>
            </a:extLst>
          </p:cNvPr>
          <p:cNvSpPr>
            <a:spLocks noGrp="1"/>
          </p:cNvSpPr>
          <p:nvPr/>
        </p:nvSpPr>
        <p:spPr>
          <a:xfrm>
            <a:off x="9563100" y="43053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secondary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051BE1D-3A18-44EF-B2B9-580F0BE3AEB2}"/>
              </a:ext>
            </a:extLst>
          </p:cNvPr>
          <p:cNvSpPr>
            <a:spLocks noGrp="1"/>
          </p:cNvSpPr>
          <p:nvPr/>
        </p:nvSpPr>
        <p:spPr>
          <a:xfrm>
            <a:off x="723900" y="4819650"/>
            <a:ext cx="1809750" cy="323850"/>
          </a:xfrm>
          <a:prstGeom prst="roundRect">
            <a:avLst>
              <a:gd name="adj" fmla="val 47059"/>
            </a:avLst>
          </a:prstGeom>
          <a:solidFill>
            <a:srgbClr val="0E1728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E2A326-13EC-41BF-A649-558706CA9B37}"/>
              </a:ext>
            </a:extLst>
          </p:cNvPr>
          <p:cNvSpPr>
            <a:spLocks noGrp="1"/>
          </p:cNvSpPr>
          <p:nvPr/>
        </p:nvSpPr>
        <p:spPr>
          <a:xfrm>
            <a:off x="857250" y="4886325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per-CPU state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97BC297-1F17-4A90-BDDA-52AE37229314}"/>
              </a:ext>
            </a:extLst>
          </p:cNvPr>
          <p:cNvSpPr>
            <a:spLocks noGrp="1"/>
          </p:cNvSpPr>
          <p:nvPr/>
        </p:nvSpPr>
        <p:spPr>
          <a:xfrm>
            <a:off x="2724150" y="4819650"/>
            <a:ext cx="1295400" cy="323850"/>
          </a:xfrm>
          <a:prstGeom prst="roundRect">
            <a:avLst>
              <a:gd name="adj" fmla="val 47059"/>
            </a:avLst>
          </a:prstGeom>
          <a:solidFill>
            <a:srgbClr val="0E1728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5AB0011-4D26-4915-B96F-C3E40BD7738C}"/>
              </a:ext>
            </a:extLst>
          </p:cNvPr>
          <p:cNvSpPr>
            <a:spLocks noGrp="1"/>
          </p:cNvSpPr>
          <p:nvPr/>
        </p:nvSpPr>
        <p:spPr>
          <a:xfrm>
            <a:off x="2857500" y="4886325"/>
            <a:ext cx="1028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spinlock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57C94FD-935B-4647-8570-2E4F4E5347D0}"/>
              </a:ext>
            </a:extLst>
          </p:cNvPr>
          <p:cNvSpPr>
            <a:spLocks noGrp="1"/>
          </p:cNvSpPr>
          <p:nvPr/>
        </p:nvSpPr>
        <p:spPr>
          <a:xfrm>
            <a:off x="4210050" y="4819650"/>
            <a:ext cx="1695450" cy="323850"/>
          </a:xfrm>
          <a:prstGeom prst="roundRect">
            <a:avLst>
              <a:gd name="adj" fmla="val 47059"/>
            </a:avLst>
          </a:prstGeom>
          <a:solidFill>
            <a:srgbClr val="0E1728"/>
          </a:solidFill>
          <a:ln w="9525">
            <a:solidFill>
              <a:srgbClr val="F9731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70EB406-C33A-472C-B182-6F8EF51A157F}"/>
              </a:ext>
            </a:extLst>
          </p:cNvPr>
          <p:cNvSpPr>
            <a:spLocks noGrp="1"/>
          </p:cNvSpPr>
          <p:nvPr/>
        </p:nvSpPr>
        <p:spPr>
          <a:xfrm>
            <a:off x="4343400" y="4886325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TLB shootdown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07CF6AD-7252-47E8-B428-A6E895AAC825}"/>
              </a:ext>
            </a:extLst>
          </p:cNvPr>
          <p:cNvSpPr>
            <a:spLocks noGrp="1"/>
          </p:cNvSpPr>
          <p:nvPr/>
        </p:nvSpPr>
        <p:spPr>
          <a:xfrm>
            <a:off x="6096000" y="4819650"/>
            <a:ext cx="1809750" cy="323850"/>
          </a:xfrm>
          <a:prstGeom prst="roundRect">
            <a:avLst>
              <a:gd name="adj" fmla="val 47059"/>
            </a:avLst>
          </a:prstGeom>
          <a:solidFill>
            <a:srgbClr val="0E1728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8D895C-3E5A-4F96-9A84-32A739EB8BD8}"/>
              </a:ext>
            </a:extLst>
          </p:cNvPr>
          <p:cNvSpPr>
            <a:spLocks noGrp="1"/>
          </p:cNvSpPr>
          <p:nvPr/>
        </p:nvSpPr>
        <p:spPr>
          <a:xfrm>
            <a:off x="6229350" y="4886325"/>
            <a:ext cx="15430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remote destroy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90B2F98-BCAA-43BD-9CF6-8B2CF35D262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Project: OS-challenging-Mission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8293C4-6B85-4ACA-8C96-BC109AA4B324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22627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D11A49EF-DA4C-4925-AD65-01C28E1B7DC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E73EED2-466B-4A5C-BF9A-9937D9EA817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单核假设在 SMP 下全部失效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8FF21CC-DA2B-4153-B30F-964320760C2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单核 MOS 的很多“全局变量”其实是在默默表达当前 CPU。双核后，两个 CPU 会同时进入内核、同时修改队列、同时持有不同地址空间。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C95D01F-9A6D-4A6C-850E-347AA4A1CC2A}"/>
              </a:ext>
            </a:extLst>
          </p:cNvPr>
          <p:cNvSpPr>
            <a:spLocks noGrp="1"/>
          </p:cNvSpPr>
          <p:nvPr/>
        </p:nvSpPr>
        <p:spPr>
          <a:xfrm>
            <a:off x="685800" y="2076450"/>
            <a:ext cx="10820400" cy="361950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D172B9-DAC6-4937-A840-2DFE7227B208}"/>
              </a:ext>
            </a:extLst>
          </p:cNvPr>
          <p:cNvSpPr>
            <a:spLocks noGrp="1"/>
          </p:cNvSpPr>
          <p:nvPr/>
        </p:nvSpPr>
        <p:spPr>
          <a:xfrm>
            <a:off x="990600" y="23431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8E25984-4712-4C83-AE74-38A6E90FDB01}"/>
              </a:ext>
            </a:extLst>
          </p:cNvPr>
          <p:cNvSpPr>
            <a:spLocks noGrp="1"/>
          </p:cNvSpPr>
          <p:nvPr/>
        </p:nvSpPr>
        <p:spPr>
          <a:xfrm>
            <a:off x="3352800" y="2343150"/>
            <a:ext cx="228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单核默认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0C9D3A-B2AC-4DB7-80A7-5555EC9CFEA3}"/>
              </a:ext>
            </a:extLst>
          </p:cNvPr>
          <p:cNvSpPr>
            <a:spLocks noGrp="1"/>
          </p:cNvSpPr>
          <p:nvPr/>
        </p:nvSpPr>
        <p:spPr>
          <a:xfrm>
            <a:off x="6819900" y="234315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SMP 设计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DB567A-3EA3-4812-8CBD-897EEF14DB14}"/>
              </a:ext>
            </a:extLst>
          </p:cNvPr>
          <p:cNvSpPr>
            <a:spLocks noGrp="1"/>
          </p:cNvSpPr>
          <p:nvPr/>
        </p:nvSpPr>
        <p:spPr>
          <a:xfrm>
            <a:off x="990600" y="27241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当前进程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FCA13D-6F2A-44AC-90D5-31A96207981F}"/>
              </a:ext>
            </a:extLst>
          </p:cNvPr>
          <p:cNvSpPr>
            <a:spLocks noGrp="1"/>
          </p:cNvSpPr>
          <p:nvPr/>
        </p:nvSpPr>
        <p:spPr>
          <a:xfrm>
            <a:off x="3352800" y="27241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全局 curenv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FBEFAF-8C41-41E8-9C39-C1E2971ACA7A}"/>
              </a:ext>
            </a:extLst>
          </p:cNvPr>
          <p:cNvSpPr>
            <a:spLocks noGrp="1"/>
          </p:cNvSpPr>
          <p:nvPr/>
        </p:nvSpPr>
        <p:spPr>
          <a:xfrm>
            <a:off x="6096000" y="27241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498EC1F-5A57-47CE-93EC-15B3FC892224}"/>
              </a:ext>
            </a:extLst>
          </p:cNvPr>
          <p:cNvSpPr>
            <a:spLocks noGrp="1"/>
          </p:cNvSpPr>
          <p:nvPr/>
        </p:nvSpPr>
        <p:spPr>
          <a:xfrm>
            <a:off x="6819900" y="27241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cpu_data[cpu].curenv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0CF4DD-A1FD-4A76-B485-DCF40EF83C6C}"/>
              </a:ext>
            </a:extLst>
          </p:cNvPr>
          <p:cNvSpPr>
            <a:spLocks noGrp="1"/>
          </p:cNvSpPr>
          <p:nvPr/>
        </p:nvSpPr>
        <p:spPr>
          <a:xfrm>
            <a:off x="990600" y="32575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调度队列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06FB71-6E6E-429E-803C-E5E3554F6B8B}"/>
              </a:ext>
            </a:extLst>
          </p:cNvPr>
          <p:cNvSpPr>
            <a:spLocks noGrp="1"/>
          </p:cNvSpPr>
          <p:nvPr/>
        </p:nvSpPr>
        <p:spPr>
          <a:xfrm>
            <a:off x="3352800" y="32575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单调度器修改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6DD6100-01C0-43AE-922F-86D1D9849BE1}"/>
              </a:ext>
            </a:extLst>
          </p:cNvPr>
          <p:cNvSpPr>
            <a:spLocks noGrp="1"/>
          </p:cNvSpPr>
          <p:nvPr/>
        </p:nvSpPr>
        <p:spPr>
          <a:xfrm>
            <a:off x="6096000" y="32575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4FE024-9722-4EF3-8B62-2586B731C8C4}"/>
              </a:ext>
            </a:extLst>
          </p:cNvPr>
          <p:cNvSpPr>
            <a:spLocks noGrp="1"/>
          </p:cNvSpPr>
          <p:nvPr/>
        </p:nvSpPr>
        <p:spPr>
          <a:xfrm>
            <a:off x="6819900" y="32575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env_sched_lock + env_running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F84512-38FC-4EC1-91CD-02BC4441215C}"/>
              </a:ext>
            </a:extLst>
          </p:cNvPr>
          <p:cNvSpPr>
            <a:spLocks noGrp="1"/>
          </p:cNvSpPr>
          <p:nvPr/>
        </p:nvSpPr>
        <p:spPr>
          <a:xfrm>
            <a:off x="990600" y="37909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物理页/页表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40005B2-97E0-4C39-A28C-C1FE554F1BC2}"/>
              </a:ext>
            </a:extLst>
          </p:cNvPr>
          <p:cNvSpPr>
            <a:spLocks noGrp="1"/>
          </p:cNvSpPr>
          <p:nvPr/>
        </p:nvSpPr>
        <p:spPr>
          <a:xfrm>
            <a:off x="3352800" y="37909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无并发修改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12CB60-D9A1-4F65-B67E-0CA2D20E0452}"/>
              </a:ext>
            </a:extLst>
          </p:cNvPr>
          <p:cNvSpPr>
            <a:spLocks noGrp="1"/>
          </p:cNvSpPr>
          <p:nvPr/>
        </p:nvSpPr>
        <p:spPr>
          <a:xfrm>
            <a:off x="6096000" y="37909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24E26A-84BB-4794-859D-B77C99E29A41}"/>
              </a:ext>
            </a:extLst>
          </p:cNvPr>
          <p:cNvSpPr>
            <a:spLocks noGrp="1"/>
          </p:cNvSpPr>
          <p:nvPr/>
        </p:nvSpPr>
        <p:spPr>
          <a:xfrm>
            <a:off x="6819900" y="37909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pmap_lock + 锁外 TLB 广播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9BFE4A9-AD40-4319-9F20-2F5268FB298C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TLB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9A2852-C1EC-4632-A508-E2EB984C3482}"/>
              </a:ext>
            </a:extLst>
          </p:cNvPr>
          <p:cNvSpPr>
            <a:spLocks noGrp="1"/>
          </p:cNvSpPr>
          <p:nvPr/>
        </p:nvSpPr>
        <p:spPr>
          <a:xfrm>
            <a:off x="3352800" y="43243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只 flush 本 CPU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E70CD5-CB7C-4DEC-B0F5-40144B03B499}"/>
              </a:ext>
            </a:extLst>
          </p:cNvPr>
          <p:cNvSpPr>
            <a:spLocks noGrp="1"/>
          </p:cNvSpPr>
          <p:nvPr/>
        </p:nvSpPr>
        <p:spPr>
          <a:xfrm>
            <a:off x="6096000" y="43243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57E3D25-6B17-474E-AFA2-6FCBFC9964A9}"/>
              </a:ext>
            </a:extLst>
          </p:cNvPr>
          <p:cNvSpPr>
            <a:spLocks noGrp="1"/>
          </p:cNvSpPr>
          <p:nvPr/>
        </p:nvSpPr>
        <p:spPr>
          <a:xfrm>
            <a:off x="6819900" y="43243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IPI shootdown 到其它 CPU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001434F-9574-4582-A3D4-119DB6DF2F1D}"/>
              </a:ext>
            </a:extLst>
          </p:cNvPr>
          <p:cNvSpPr>
            <a:spLocks noGrp="1"/>
          </p:cNvSpPr>
          <p:nvPr/>
        </p:nvSpPr>
        <p:spPr>
          <a:xfrm>
            <a:off x="990600" y="48577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env_destroy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8D52437-42E3-4F51-9392-4668E73CA941}"/>
              </a:ext>
            </a:extLst>
          </p:cNvPr>
          <p:cNvSpPr>
            <a:spLocks noGrp="1"/>
          </p:cNvSpPr>
          <p:nvPr/>
        </p:nvSpPr>
        <p:spPr>
          <a:xfrm>
            <a:off x="3352800" y="4857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直接 env_free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A08DD38-7D01-4130-8E73-88538B046740}"/>
              </a:ext>
            </a:extLst>
          </p:cNvPr>
          <p:cNvSpPr>
            <a:spLocks noGrp="1"/>
          </p:cNvSpPr>
          <p:nvPr/>
        </p:nvSpPr>
        <p:spPr>
          <a:xfrm>
            <a:off x="6096000" y="48577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2536641-3149-403C-8134-DD058ABA3C70}"/>
              </a:ext>
            </a:extLst>
          </p:cNvPr>
          <p:cNvSpPr>
            <a:spLocks noGrp="1"/>
          </p:cNvSpPr>
          <p:nvPr/>
        </p:nvSpPr>
        <p:spPr>
          <a:xfrm>
            <a:off x="6819900" y="4857750"/>
            <a:ext cx="3810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8FAFC"/>
                </a:solidFill>
                <a:latin typeface="Aptos"/>
                <a:ea typeface="Aptos"/>
                <a:cs typeface="Aptos"/>
              </a:rPr>
              <a:t>远端运行时目标 CPU 安全点释放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16AFA155-07B8-44EE-9856-77A32FB08442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495300"/>
          </a:xfrm>
          <a:prstGeom prst="roundRect">
            <a:avLst>
              <a:gd name="adj" fmla="val 15385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EA90BD8-A6DC-4241-821F-2590A5E28497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47625" cy="4953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A1FFCA-74F1-43F8-BEA7-ED4E5E2A6B63}"/>
              </a:ext>
            </a:extLst>
          </p:cNvPr>
          <p:cNvSpPr>
            <a:spLocks noGrp="1"/>
          </p:cNvSpPr>
          <p:nvPr/>
        </p:nvSpPr>
        <p:spPr>
          <a:xfrm>
            <a:off x="990600" y="5953125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答辩切入点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125DCFB-5040-4B94-8491-43439CF76677}"/>
              </a:ext>
            </a:extLst>
          </p:cNvPr>
          <p:cNvSpPr>
            <a:spLocks noGrp="1"/>
          </p:cNvSpPr>
          <p:nvPr/>
        </p:nvSpPr>
        <p:spPr>
          <a:xfrm>
            <a:off x="2895600" y="5981700"/>
            <a:ext cx="628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先讲“哪些单核假设被破坏”，再讲“每个假设如何被代码消除”。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6044AB4-A66D-42A0-88B9-E54FAA1588C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SMP_DESIGN_AND_TEST_SUMMARY.md + project code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0F8D509-28BC-42E3-BCE0-F0A853443250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48220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>
            <a:extLst>
              <a:ext uri="{FF2B5EF4-FFF2-40B4-BE49-F238E27FC236}">
                <a16:creationId xmlns:a16="http://schemas.microsoft.com/office/drawing/2014/main" id="{E14EDAB5-E644-4075-B99D-0358DAADD3A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107EF56-B586-4FE6-92DE-1FD5A7DEF47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改造主线：从启动到验证的闭环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311F6CA1-515B-4F15-8757-21EF7E416401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54D0A6-C385-429F-8F4B-E858D4F3A481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启动分流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A89D4C7-A8FA-4070-B468-DAA54F11D33C}"/>
              </a:ext>
            </a:extLst>
          </p:cNvPr>
          <p:cNvSpPr>
            <a:spLocks noGrp="1"/>
          </p:cNvSpPr>
          <p:nvPr/>
        </p:nvSpPr>
        <p:spPr>
          <a:xfrm>
            <a:off x="2094139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D3DAFD3-B436-4229-B0D6-C0B9C46FDEC1}"/>
              </a:ext>
            </a:extLst>
          </p:cNvPr>
          <p:cNvSpPr>
            <a:spLocks noGrp="1"/>
          </p:cNvSpPr>
          <p:nvPr/>
        </p:nvSpPr>
        <p:spPr>
          <a:xfrm>
            <a:off x="2256064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2A4D88-04FD-4D3A-B40D-DD43C1359C7B}"/>
              </a:ext>
            </a:extLst>
          </p:cNvPr>
          <p:cNvSpPr>
            <a:spLocks noGrp="1"/>
          </p:cNvSpPr>
          <p:nvPr/>
        </p:nvSpPr>
        <p:spPr>
          <a:xfrm>
            <a:off x="2389414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per-CPU 状态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398C009-6D0A-46E2-B555-825470C972B8}"/>
              </a:ext>
            </a:extLst>
          </p:cNvPr>
          <p:cNvSpPr>
            <a:spLocks noGrp="1"/>
          </p:cNvSpPr>
          <p:nvPr/>
        </p:nvSpPr>
        <p:spPr>
          <a:xfrm>
            <a:off x="3664404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820F35B-D0C9-4E49-A914-6BD9A61A2EA5}"/>
              </a:ext>
            </a:extLst>
          </p:cNvPr>
          <p:cNvSpPr>
            <a:spLocks noGrp="1"/>
          </p:cNvSpPr>
          <p:nvPr/>
        </p:nvSpPr>
        <p:spPr>
          <a:xfrm>
            <a:off x="3826329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B90DF8-60A7-4816-9251-5151522D067B}"/>
              </a:ext>
            </a:extLst>
          </p:cNvPr>
          <p:cNvSpPr>
            <a:spLocks noGrp="1"/>
          </p:cNvSpPr>
          <p:nvPr/>
        </p:nvSpPr>
        <p:spPr>
          <a:xfrm>
            <a:off x="3959679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共享结构加锁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8C9A5C-38A7-40A4-A2C7-2FF6711DF7D4}"/>
              </a:ext>
            </a:extLst>
          </p:cNvPr>
          <p:cNvSpPr>
            <a:spLocks noGrp="1"/>
          </p:cNvSpPr>
          <p:nvPr/>
        </p:nvSpPr>
        <p:spPr>
          <a:xfrm>
            <a:off x="5234668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0D6AA221-4E9A-46EC-B9E6-D2B4F802E917}"/>
              </a:ext>
            </a:extLst>
          </p:cNvPr>
          <p:cNvSpPr>
            <a:spLocks noGrp="1"/>
          </p:cNvSpPr>
          <p:nvPr/>
        </p:nvSpPr>
        <p:spPr>
          <a:xfrm>
            <a:off x="5396593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F12998-4A35-4B44-9C08-BA64DF411B11}"/>
              </a:ext>
            </a:extLst>
          </p:cNvPr>
          <p:cNvSpPr>
            <a:spLocks noGrp="1"/>
          </p:cNvSpPr>
          <p:nvPr/>
        </p:nvSpPr>
        <p:spPr>
          <a:xfrm>
            <a:off x="5529943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调度占用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3220FB9-FA19-420D-8908-BF1DC21C468A}"/>
              </a:ext>
            </a:extLst>
          </p:cNvPr>
          <p:cNvSpPr>
            <a:spLocks noGrp="1"/>
          </p:cNvSpPr>
          <p:nvPr/>
        </p:nvSpPr>
        <p:spPr>
          <a:xfrm>
            <a:off x="6804932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F9231CE-C7BE-43F6-AECA-7BC626A3502B}"/>
              </a:ext>
            </a:extLst>
          </p:cNvPr>
          <p:cNvSpPr>
            <a:spLocks noGrp="1"/>
          </p:cNvSpPr>
          <p:nvPr/>
        </p:nvSpPr>
        <p:spPr>
          <a:xfrm>
            <a:off x="6966857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22E9D0-4A27-497E-9B12-68D7F8D3E554}"/>
              </a:ext>
            </a:extLst>
          </p:cNvPr>
          <p:cNvSpPr>
            <a:spLocks noGrp="1"/>
          </p:cNvSpPr>
          <p:nvPr/>
        </p:nvSpPr>
        <p:spPr>
          <a:xfrm>
            <a:off x="7100207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TLB 广播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51A9F2-D11D-4467-96F9-D3E31008B1D9}"/>
              </a:ext>
            </a:extLst>
          </p:cNvPr>
          <p:cNvSpPr>
            <a:spLocks noGrp="1"/>
          </p:cNvSpPr>
          <p:nvPr/>
        </p:nvSpPr>
        <p:spPr>
          <a:xfrm>
            <a:off x="8375196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57E0E585-8AA2-4537-B930-D3262A94A213}"/>
              </a:ext>
            </a:extLst>
          </p:cNvPr>
          <p:cNvSpPr>
            <a:spLocks noGrp="1"/>
          </p:cNvSpPr>
          <p:nvPr/>
        </p:nvSpPr>
        <p:spPr>
          <a:xfrm>
            <a:off x="8537121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FB62A9-7C1F-4C8F-9DD1-3055B7E06494}"/>
              </a:ext>
            </a:extLst>
          </p:cNvPr>
          <p:cNvSpPr>
            <a:spLocks noGrp="1"/>
          </p:cNvSpPr>
          <p:nvPr/>
        </p:nvSpPr>
        <p:spPr>
          <a:xfrm>
            <a:off x="8670471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安全销毁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F2C273-2702-4026-9EFB-63F88F37F344}"/>
              </a:ext>
            </a:extLst>
          </p:cNvPr>
          <p:cNvSpPr>
            <a:spLocks noGrp="1"/>
          </p:cNvSpPr>
          <p:nvPr/>
        </p:nvSpPr>
        <p:spPr>
          <a:xfrm>
            <a:off x="9945461" y="18097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E05049F-1670-4A20-94CF-C38D32826AE1}"/>
              </a:ext>
            </a:extLst>
          </p:cNvPr>
          <p:cNvSpPr>
            <a:spLocks noGrp="1"/>
          </p:cNvSpPr>
          <p:nvPr/>
        </p:nvSpPr>
        <p:spPr>
          <a:xfrm>
            <a:off x="10107386" y="1485900"/>
            <a:ext cx="1398814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6516177-D842-46FE-AA8D-CB8FDAB86E87}"/>
              </a:ext>
            </a:extLst>
          </p:cNvPr>
          <p:cNvSpPr>
            <a:spLocks noGrp="1"/>
          </p:cNvSpPr>
          <p:nvPr/>
        </p:nvSpPr>
        <p:spPr>
          <a:xfrm>
            <a:off x="10240736" y="1657350"/>
            <a:ext cx="1132114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并发测试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CA5F95A-D42F-402D-B99C-3D7259F3D7DB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672D5B8-D37B-47F5-A118-CCB595C438B2}"/>
              </a:ext>
            </a:extLst>
          </p:cNvPr>
          <p:cNvSpPr>
            <a:spLocks noGrp="1"/>
          </p:cNvSpPr>
          <p:nvPr/>
        </p:nvSpPr>
        <p:spPr>
          <a:xfrm>
            <a:off x="685800" y="2914650"/>
            <a:ext cx="47625" cy="10287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7263E3D-FC5C-46FF-94F0-7F37AC5D7E76}"/>
              </a:ext>
            </a:extLst>
          </p:cNvPr>
          <p:cNvSpPr>
            <a:spLocks noGrp="1"/>
          </p:cNvSpPr>
          <p:nvPr/>
        </p:nvSpPr>
        <p:spPr>
          <a:xfrm>
            <a:off x="857250" y="3067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8325F44-73E7-4501-8C83-A21E744A2240}"/>
              </a:ext>
            </a:extLst>
          </p:cNvPr>
          <p:cNvSpPr>
            <a:spLocks noGrp="1"/>
          </p:cNvSpPr>
          <p:nvPr/>
        </p:nvSpPr>
        <p:spPr>
          <a:xfrm>
            <a:off x="1219200" y="30670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启动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8A7896-3260-4653-9FE5-656244288BDE}"/>
              </a:ext>
            </a:extLst>
          </p:cNvPr>
          <p:cNvSpPr>
            <a:spLocks noGrp="1"/>
          </p:cNvSpPr>
          <p:nvPr/>
        </p:nvSpPr>
        <p:spPr>
          <a:xfrm>
            <a:off x="914400" y="34290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CPU0 初始化系统；CPU1 等启动栅栏，设置自己的内核栈后进入 secondary。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4F9A74E6-4F1D-49F6-A3E3-35C680A7FE21}"/>
              </a:ext>
            </a:extLst>
          </p:cNvPr>
          <p:cNvSpPr>
            <a:spLocks noGrp="1"/>
          </p:cNvSpPr>
          <p:nvPr/>
        </p:nvSpPr>
        <p:spPr>
          <a:xfrm>
            <a:off x="4305300" y="291465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952E241-AF36-464B-9BD1-08A598122A49}"/>
              </a:ext>
            </a:extLst>
          </p:cNvPr>
          <p:cNvSpPr>
            <a:spLocks noGrp="1"/>
          </p:cNvSpPr>
          <p:nvPr/>
        </p:nvSpPr>
        <p:spPr>
          <a:xfrm>
            <a:off x="4305300" y="2914650"/>
            <a:ext cx="47625" cy="1028700"/>
          </a:xfrm>
          <a:prstGeom prst="rect">
            <a:avLst/>
          </a:prstGeom>
          <a:solidFill>
            <a:srgbClr val="A3E635"/>
          </a:solidFill>
          <a:ln w="0">
            <a:solidFill>
              <a:srgbClr val="A3E635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CF67253-E85D-49C5-ADE9-AEFBCDA16611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C3B872-7E26-4212-B77E-08ECCACC5D1C}"/>
              </a:ext>
            </a:extLst>
          </p:cNvPr>
          <p:cNvSpPr>
            <a:spLocks noGrp="1"/>
          </p:cNvSpPr>
          <p:nvPr/>
        </p:nvSpPr>
        <p:spPr>
          <a:xfrm>
            <a:off x="4838700" y="30670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内核状态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49ED6AA-1A75-4F50-989B-5EF97D1B2D45}"/>
              </a:ext>
            </a:extLst>
          </p:cNvPr>
          <p:cNvSpPr>
            <a:spLocks noGrp="1"/>
          </p:cNvSpPr>
          <p:nvPr/>
        </p:nvSpPr>
        <p:spPr>
          <a:xfrm>
            <a:off x="4533900" y="34290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curenv、cur_pgdir、trapframe、时间片全部按 CPU 拆分。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EE1CC1CC-BFF8-4BFE-A09E-20CB662DE17C}"/>
              </a:ext>
            </a:extLst>
          </p:cNvPr>
          <p:cNvSpPr>
            <a:spLocks noGrp="1"/>
          </p:cNvSpPr>
          <p:nvPr/>
        </p:nvSpPr>
        <p:spPr>
          <a:xfrm>
            <a:off x="7924800" y="291465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6C08A30-A35F-4677-BC64-C67C299E4591}"/>
              </a:ext>
            </a:extLst>
          </p:cNvPr>
          <p:cNvSpPr>
            <a:spLocks noGrp="1"/>
          </p:cNvSpPr>
          <p:nvPr/>
        </p:nvSpPr>
        <p:spPr>
          <a:xfrm>
            <a:off x="7924800" y="2914650"/>
            <a:ext cx="47625" cy="10287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EBECABC-54EB-4D6C-ADD9-C0A451BF539F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9731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731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357A1C9-0231-436B-95C4-6C7544077FE2}"/>
              </a:ext>
            </a:extLst>
          </p:cNvPr>
          <p:cNvSpPr>
            <a:spLocks noGrp="1"/>
          </p:cNvSpPr>
          <p:nvPr/>
        </p:nvSpPr>
        <p:spPr>
          <a:xfrm>
            <a:off x="8458200" y="306705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同步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64C7D6-F876-4DE8-A5D0-E2AFFB374E51}"/>
              </a:ext>
            </a:extLst>
          </p:cNvPr>
          <p:cNvSpPr>
            <a:spLocks noGrp="1"/>
          </p:cNvSpPr>
          <p:nvPr/>
        </p:nvSpPr>
        <p:spPr>
          <a:xfrm>
            <a:off x="8153400" y="342900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调度队列、物理页、ASID、console、IPI mailbox 用 spinlock 保护。</a:t>
            </a: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D4BDC945-5EF5-4E3F-BB4D-5E5018BDAEF9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2D00479F-E17D-4D8C-8E37-58A9BD7BF7ED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47625" cy="1028700"/>
          </a:xfrm>
          <a:prstGeom prst="rect">
            <a:avLst/>
          </a:prstGeom>
          <a:solidFill>
            <a:srgbClr val="A78BFA"/>
          </a:solidFill>
          <a:ln w="0">
            <a:solidFill>
              <a:srgbClr val="A78BFA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1D35297-596C-421D-929D-DD2C1914289A}"/>
              </a:ext>
            </a:extLst>
          </p:cNvPr>
          <p:cNvSpPr>
            <a:spLocks noGrp="1"/>
          </p:cNvSpPr>
          <p:nvPr/>
        </p:nvSpPr>
        <p:spPr>
          <a:xfrm>
            <a:off x="857250" y="43815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A78BF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78BF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498E0A1-0253-453C-A01F-C6316B6CB4FF}"/>
              </a:ext>
            </a:extLst>
          </p:cNvPr>
          <p:cNvSpPr>
            <a:spLocks noGrp="1"/>
          </p:cNvSpPr>
          <p:nvPr/>
        </p:nvSpPr>
        <p:spPr>
          <a:xfrm>
            <a:off x="1219200" y="43815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一致性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398C8B2-E314-4A93-B750-D16B5FC107CD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页表修改后本地 flush，并通过 IPI 让其它 CPU flush。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4D0623BF-637C-4B4A-8400-BCF689927CEE}"/>
              </a:ext>
            </a:extLst>
          </p:cNvPr>
          <p:cNvSpPr>
            <a:spLocks noGrp="1"/>
          </p:cNvSpPr>
          <p:nvPr/>
        </p:nvSpPr>
        <p:spPr>
          <a:xfrm>
            <a:off x="4305300" y="422910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CC127A7-2DF7-4D21-9281-A94BEF69299B}"/>
              </a:ext>
            </a:extLst>
          </p:cNvPr>
          <p:cNvSpPr>
            <a:spLocks noGrp="1"/>
          </p:cNvSpPr>
          <p:nvPr/>
        </p:nvSpPr>
        <p:spPr>
          <a:xfrm>
            <a:off x="4305300" y="4229100"/>
            <a:ext cx="47625" cy="1028700"/>
          </a:xfrm>
          <a:prstGeom prst="rect">
            <a:avLst/>
          </a:prstGeom>
          <a:solidFill>
            <a:srgbClr val="FB7185"/>
          </a:solidFill>
          <a:ln w="0">
            <a:solidFill>
              <a:srgbClr val="FB7185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19627C7-2F44-4328-AD9A-F80DBFBF2C8A}"/>
              </a:ext>
            </a:extLst>
          </p:cNvPr>
          <p:cNvSpPr>
            <a:spLocks noGrp="1"/>
          </p:cNvSpPr>
          <p:nvPr/>
        </p:nvSpPr>
        <p:spPr>
          <a:xfrm>
            <a:off x="4476750" y="43815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AFDE3CFE-0CD2-4F23-8736-3BA46921568F}"/>
              </a:ext>
            </a:extLst>
          </p:cNvPr>
          <p:cNvSpPr>
            <a:spLocks noGrp="1"/>
          </p:cNvSpPr>
          <p:nvPr/>
        </p:nvSpPr>
        <p:spPr>
          <a:xfrm>
            <a:off x="4838700" y="43815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生命周期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64C409E-80DD-488B-9338-9D52AFC1E6EA}"/>
              </a:ext>
            </a:extLst>
          </p:cNvPr>
          <p:cNvSpPr>
            <a:spLocks noGrp="1"/>
          </p:cNvSpPr>
          <p:nvPr/>
        </p:nvSpPr>
        <p:spPr>
          <a:xfrm>
            <a:off x="4533900" y="47434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远端运行 env 不被外核直接释放，而是由运行它的 CPU 在安全点释放。</a:t>
            </a: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145D3411-7611-4524-819A-9F36009C4004}"/>
              </a:ext>
            </a:extLst>
          </p:cNvPr>
          <p:cNvSpPr>
            <a:spLocks noGrp="1"/>
          </p:cNvSpPr>
          <p:nvPr/>
        </p:nvSpPr>
        <p:spPr>
          <a:xfrm>
            <a:off x="7924800" y="4229100"/>
            <a:ext cx="327660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EDBB24A1-8699-4285-BE85-8DC0D58A1056}"/>
              </a:ext>
            </a:extLst>
          </p:cNvPr>
          <p:cNvSpPr>
            <a:spLocks noGrp="1"/>
          </p:cNvSpPr>
          <p:nvPr/>
        </p:nvSpPr>
        <p:spPr>
          <a:xfrm>
            <a:off x="7924800" y="4229100"/>
            <a:ext cx="47625" cy="10287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59FD6F9-EA79-4FC2-BB4A-E1673713178A}"/>
              </a:ext>
            </a:extLst>
          </p:cNvPr>
          <p:cNvSpPr>
            <a:spLocks noGrp="1"/>
          </p:cNvSpPr>
          <p:nvPr/>
        </p:nvSpPr>
        <p:spPr>
          <a:xfrm>
            <a:off x="8096250" y="43815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E8E784B-0648-46D5-9991-BDDA8F7FB3F4}"/>
              </a:ext>
            </a:extLst>
          </p:cNvPr>
          <p:cNvSpPr>
            <a:spLocks noGrp="1"/>
          </p:cNvSpPr>
          <p:nvPr/>
        </p:nvSpPr>
        <p:spPr>
          <a:xfrm>
            <a:off x="8458200" y="4381500"/>
            <a:ext cx="2876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验证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5B73FAB-2A91-4EE9-9EE7-DE6B86A460ED}"/>
              </a:ext>
            </a:extLst>
          </p:cNvPr>
          <p:cNvSpPr>
            <a:spLocks noGrp="1"/>
          </p:cNvSpPr>
          <p:nvPr/>
        </p:nvSpPr>
        <p:spPr>
          <a:xfrm>
            <a:off x="8153400" y="4743450"/>
            <a:ext cx="2876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lab6_3 到 lab6_7 主动制造双向 IPI、并行调度和远端销毁竞态。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D6ED851-CE56-41E0-8461-C27DFDFCD308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SMP_DESIGN_AND_TEST_SUMMARY.md + project code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61B056E-AECA-4BF8-87DC-5FD9FE59CDA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61419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0353F7B-85EA-45D6-A197-846F5FC981A8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0CB340-42E2-4079-BCC3-86D05342451E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核心代码：CPU 启动分流与每核栈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9F90ED4-8510-4FAA-BC7E-1C595E2A61F4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400800" cy="4495800"/>
          </a:xfrm>
          <a:prstGeom prst="roundRect">
            <a:avLst>
              <a:gd name="adj" fmla="val 1695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15CDA7F-3333-4E29-AD52-3C7A9C1FAD9D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64008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84B5EDD-6A86-4364-88EB-2D56D1FCF45B}"/>
              </a:ext>
            </a:extLst>
          </p:cNvPr>
          <p:cNvSpPr>
            <a:spLocks noGrp="1"/>
          </p:cNvSpPr>
          <p:nvPr/>
        </p:nvSpPr>
        <p:spPr>
          <a:xfrm>
            <a:off x="838200" y="1409700"/>
            <a:ext cx="6096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init/start.S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F3FD3A-E85B-4716-986C-7C98F3251725}"/>
              </a:ext>
            </a:extLst>
          </p:cNvPr>
          <p:cNvSpPr>
            <a:spLocks noGrp="1"/>
          </p:cNvSpPr>
          <p:nvPr/>
        </p:nvSpPr>
        <p:spPr>
          <a:xfrm>
            <a:off x="838200" y="1752600"/>
            <a:ext cx="6096000" cy="401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mfc0    t0, CP0_EBASE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andi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t0, t0, 0x03ff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bnez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t0,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secondary_wait</a:t>
            </a:r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li    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KSTACKTOP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jal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smp_init</a:t>
            </a:r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j     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mips_init</a:t>
            </a:r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secondary_wait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: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la    t1,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smp_boot_ready</a:t>
            </a:r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li    t3, SMP_BOOT_READY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1:lw    t2, 0(t1)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bne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t2, t3, 1b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li  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KSTACKTOP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sll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t2, t0, KSTACKSHIFT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subu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</a:t>
            </a: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t2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j     </a:t>
            </a:r>
            <a:r>
              <a:rPr sz="1200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smp_secondary_start</a:t>
            </a:r>
            <a:endParaRPr sz="1200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17DF248-D50E-4AF5-A3B0-4A015ED0D910}"/>
              </a:ext>
            </a:extLst>
          </p:cNvPr>
          <p:cNvSpPr>
            <a:spLocks noGrp="1"/>
          </p:cNvSpPr>
          <p:nvPr/>
        </p:nvSpPr>
        <p:spPr>
          <a:xfrm>
            <a:off x="7429500" y="1352550"/>
            <a:ext cx="4076700" cy="1952625"/>
          </a:xfrm>
          <a:prstGeom prst="roundRect">
            <a:avLst>
              <a:gd name="adj" fmla="val 3902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88F2E3-FDAE-462A-8E42-69F2CF923BD5}"/>
              </a:ext>
            </a:extLst>
          </p:cNvPr>
          <p:cNvSpPr>
            <a:spLocks noGrp="1"/>
          </p:cNvSpPr>
          <p:nvPr/>
        </p:nvSpPr>
        <p:spPr>
          <a:xfrm>
            <a:off x="7429500" y="1352550"/>
            <a:ext cx="40767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1954AB-232C-476D-A4C6-1A9FCD2DC332}"/>
              </a:ext>
            </a:extLst>
          </p:cNvPr>
          <p:cNvSpPr>
            <a:spLocks noGrp="1"/>
          </p:cNvSpPr>
          <p:nvPr/>
        </p:nvSpPr>
        <p:spPr>
          <a:xfrm>
            <a:off x="7581900" y="1409700"/>
            <a:ext cx="37719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include/stackframe.h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356BD29-32FA-47AD-8AB3-ABFB5A9C516D}"/>
              </a:ext>
            </a:extLst>
          </p:cNvPr>
          <p:cNvSpPr>
            <a:spLocks noGrp="1"/>
          </p:cNvSpPr>
          <p:nvPr/>
        </p:nvSpPr>
        <p:spPr>
          <a:xfrm>
            <a:off x="7581900" y="1752600"/>
            <a:ext cx="377190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mfc0    sp, CP0_EBASE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andi    sp, sp, 0x03ff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sltiu   k1, sp, NR_CPUS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sll     sp, sp, KSTACKSHIFT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li      k1, KSTACKTOP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subu    sp, k1, sp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F484C9-9B12-40DD-B8E8-D3E3AAAC77E6}"/>
              </a:ext>
            </a:extLst>
          </p:cNvPr>
          <p:cNvSpPr>
            <a:spLocks noGrp="1"/>
          </p:cNvSpPr>
          <p:nvPr/>
        </p:nvSpPr>
        <p:spPr>
          <a:xfrm>
            <a:off x="7524750" y="36195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A1401D5-AF39-4608-BFCF-70425B90FDA4}"/>
              </a:ext>
            </a:extLst>
          </p:cNvPr>
          <p:cNvSpPr>
            <a:spLocks noGrp="1"/>
          </p:cNvSpPr>
          <p:nvPr/>
        </p:nvSpPr>
        <p:spPr>
          <a:xfrm>
            <a:off x="7829550" y="3609975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EBase 低位作为 CPU id：0 走主路径，非 0 进入 secondary_wait。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5D6D180-810D-41FC-ABC1-2BCEF73A5B3B}"/>
              </a:ext>
            </a:extLst>
          </p:cNvPr>
          <p:cNvSpPr>
            <a:spLocks noGrp="1"/>
          </p:cNvSpPr>
          <p:nvPr/>
        </p:nvSpPr>
        <p:spPr>
          <a:xfrm>
            <a:off x="7524750" y="42672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9632E9-BC92-4C6C-914B-C175C0E13C67}"/>
              </a:ext>
            </a:extLst>
          </p:cNvPr>
          <p:cNvSpPr>
            <a:spLocks noGrp="1"/>
          </p:cNvSpPr>
          <p:nvPr/>
        </p:nvSpPr>
        <p:spPr>
          <a:xfrm>
            <a:off x="7829550" y="4257675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CPU1 不清 .bss，避免破坏 CPU0 已初始化的数据。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724304-2591-4A21-85D6-E10C4BBA794F}"/>
              </a:ext>
            </a:extLst>
          </p:cNvPr>
          <p:cNvSpPr>
            <a:spLocks noGrp="1"/>
          </p:cNvSpPr>
          <p:nvPr/>
        </p:nvSpPr>
        <p:spPr>
          <a:xfrm>
            <a:off x="7524750" y="49149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3939F0-3F76-4285-86DC-9B3FC418F794}"/>
              </a:ext>
            </a:extLst>
          </p:cNvPr>
          <p:cNvSpPr>
            <a:spLocks noGrp="1"/>
          </p:cNvSpPr>
          <p:nvPr/>
        </p:nvSpPr>
        <p:spPr>
          <a:xfrm>
            <a:off x="7829550" y="4905375"/>
            <a:ext cx="3429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异常入口也按 CPU id 选栈，避免共用 trapframe。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8A994B-5BD1-41AC-9413-548183B62C3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init/start.S, include/stackframe.h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A277B9-C5CD-4C8F-8AE3-AEA75EE374A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9195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BBC50980-67E6-4910-8E33-27DC1746DB59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470E6E-CE23-407F-A1A2-3C42AC9306FD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核心代码：把“当前状态”改成 per-CPU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9781B1-6A98-423F-A623-9F00FE71A052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5905500" cy="4591050"/>
          </a:xfrm>
          <a:prstGeom prst="roundRect">
            <a:avLst>
              <a:gd name="adj" fmla="val 1660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9052687-CCD8-4F33-B256-684D1A7F8819}"/>
              </a:ext>
            </a:extLst>
          </p:cNvPr>
          <p:cNvSpPr>
            <a:spLocks noGrp="1"/>
          </p:cNvSpPr>
          <p:nvPr/>
        </p:nvSpPr>
        <p:spPr>
          <a:xfrm>
            <a:off x="685800" y="1314450"/>
            <a:ext cx="59055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7DF491A-CB0D-475F-990E-50CF2255CD29}"/>
              </a:ext>
            </a:extLst>
          </p:cNvPr>
          <p:cNvSpPr>
            <a:spLocks noGrp="1"/>
          </p:cNvSpPr>
          <p:nvPr/>
        </p:nvSpPr>
        <p:spPr>
          <a:xfrm>
            <a:off x="838200" y="1371600"/>
            <a:ext cx="5600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include/smp.h + kern/smp.c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1FF685-DE50-428F-A8A7-F998344FBDAC}"/>
              </a:ext>
            </a:extLst>
          </p:cNvPr>
          <p:cNvSpPr>
            <a:spLocks noGrp="1"/>
          </p:cNvSpPr>
          <p:nvPr/>
        </p:nvSpPr>
        <p:spPr>
          <a:xfrm>
            <a:off x="838200" y="1714500"/>
            <a:ext cx="5600700" cy="411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struct cpu_local_data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int cpu_id;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struct Env *curenv;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Pde *cur_pgdir;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u_long kernel_stack_top;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int sched_count;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};</a:t>
            </a:r>
          </a:p>
          <a:p>
            <a:endParaRPr sz="1200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struct Env *cpu_curenv(void)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return cpu_data[cpu_id()].curenv;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Pde *cpu_cur_pgdir(void)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return cpu_data[cpu_id()].cur_pgdir;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struct Trapframe *cpu_trapframe(void)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return (struct Trapframe *)cpu_kstack_top() - 1;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6DD7B75-A737-4104-96BD-48CBEC633883}"/>
              </a:ext>
            </a:extLst>
          </p:cNvPr>
          <p:cNvSpPr>
            <a:spLocks noGrp="1"/>
          </p:cNvSpPr>
          <p:nvPr/>
        </p:nvSpPr>
        <p:spPr>
          <a:xfrm>
            <a:off x="7086600" y="1466850"/>
            <a:ext cx="1809750" cy="304800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1120CB-B13B-4A73-82C0-C0059FB92219}"/>
              </a:ext>
            </a:extLst>
          </p:cNvPr>
          <p:cNvSpPr>
            <a:spLocks noGrp="1"/>
          </p:cNvSpPr>
          <p:nvPr/>
        </p:nvSpPr>
        <p:spPr>
          <a:xfrm>
            <a:off x="7524750" y="171450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CPU0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9E463D-5920-43AD-B6B2-C0202D73307D}"/>
              </a:ext>
            </a:extLst>
          </p:cNvPr>
          <p:cNvSpPr>
            <a:spLocks noGrp="1"/>
          </p:cNvSpPr>
          <p:nvPr/>
        </p:nvSpPr>
        <p:spPr>
          <a:xfrm>
            <a:off x="7296150" y="2343150"/>
            <a:ext cx="13906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curenv = A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cur_pgdir = A.pgdir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sched_count = n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kstack = KSTACKTOP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2481D92-BFD9-4AB6-BF00-6DE116301A0A}"/>
              </a:ext>
            </a:extLst>
          </p:cNvPr>
          <p:cNvSpPr>
            <a:spLocks noGrp="1"/>
          </p:cNvSpPr>
          <p:nvPr/>
        </p:nvSpPr>
        <p:spPr>
          <a:xfrm>
            <a:off x="9505950" y="1466850"/>
            <a:ext cx="1809750" cy="3048000"/>
          </a:xfrm>
          <a:prstGeom prst="roundRect">
            <a:avLst>
              <a:gd name="adj" fmla="val 4211"/>
            </a:avLst>
          </a:prstGeom>
          <a:solidFill>
            <a:srgbClr val="0F172A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F4E2A61-E13F-4A85-B191-D0386996DF4C}"/>
              </a:ext>
            </a:extLst>
          </p:cNvPr>
          <p:cNvSpPr>
            <a:spLocks noGrp="1"/>
          </p:cNvSpPr>
          <p:nvPr/>
        </p:nvSpPr>
        <p:spPr>
          <a:xfrm>
            <a:off x="9944100" y="1714500"/>
            <a:ext cx="9144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21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CPU1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CEFBD0B-C3A4-4597-ADF9-BA5BFA6DD976}"/>
              </a:ext>
            </a:extLst>
          </p:cNvPr>
          <p:cNvSpPr>
            <a:spLocks noGrp="1"/>
          </p:cNvSpPr>
          <p:nvPr/>
        </p:nvSpPr>
        <p:spPr>
          <a:xfrm>
            <a:off x="9715500" y="2343150"/>
            <a:ext cx="13906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curenv = B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cur_pgdir = B.pgdir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sched_count = m</a:t>
            </a:r>
          </a:p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kstack = KSTACKTOP-Δ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658FBC0-B17B-49FC-9A29-D9151DF11358}"/>
              </a:ext>
            </a:extLst>
          </p:cNvPr>
          <p:cNvSpPr>
            <a:spLocks noGrp="1"/>
          </p:cNvSpPr>
          <p:nvPr/>
        </p:nvSpPr>
        <p:spPr>
          <a:xfrm>
            <a:off x="7086600" y="4762500"/>
            <a:ext cx="4229100" cy="1200150"/>
          </a:xfrm>
          <a:prstGeom prst="roundRect">
            <a:avLst>
              <a:gd name="adj" fmla="val 6349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1B2860-15D0-4C15-A117-9488252A0F60}"/>
              </a:ext>
            </a:extLst>
          </p:cNvPr>
          <p:cNvSpPr>
            <a:spLocks noGrp="1"/>
          </p:cNvSpPr>
          <p:nvPr/>
        </p:nvSpPr>
        <p:spPr>
          <a:xfrm>
            <a:off x="7086600" y="4762500"/>
            <a:ext cx="47625" cy="12001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9FA18CF-17AA-4E54-9816-E7C671A21BAE}"/>
              </a:ext>
            </a:extLst>
          </p:cNvPr>
          <p:cNvSpPr>
            <a:spLocks noGrp="1"/>
          </p:cNvSpPr>
          <p:nvPr/>
        </p:nvSpPr>
        <p:spPr>
          <a:xfrm>
            <a:off x="7315200" y="4914900"/>
            <a:ext cx="3829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答辩重点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2D605F-F394-460B-B600-C346F854320C}"/>
              </a:ext>
            </a:extLst>
          </p:cNvPr>
          <p:cNvSpPr>
            <a:spLocks noGrp="1"/>
          </p:cNvSpPr>
          <p:nvPr/>
        </p:nvSpPr>
        <p:spPr>
          <a:xfrm>
            <a:off x="7315200" y="5276850"/>
            <a:ext cx="3829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SMP 中“当前进程”是“当前 CPU 的进程”。syscall、TLB refill、panic、调度都必须走 cpu_* 接口。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E79706-1E60-4CD9-955D-37E374146486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include/smp.h, kern/smp.c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308ABD-ECCC-42F8-8AF4-F152213720A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54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3D58ABA9-3525-4710-940B-A4115E67446C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616AAC-AA65-45A8-B793-4885532EB80C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IPI mailbox：跨 CPU 执行内核函数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6936E16-262D-43BA-9100-309B9E409070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5829300" cy="4038600"/>
          </a:xfrm>
          <a:prstGeom prst="roundRect">
            <a:avLst>
              <a:gd name="adj" fmla="val 1887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9DA77D-3466-469F-96F1-4546D53D3717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58293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3AA7FA8-98FA-4370-B8A3-4D16C35560E4}"/>
              </a:ext>
            </a:extLst>
          </p:cNvPr>
          <p:cNvSpPr>
            <a:spLocks noGrp="1"/>
          </p:cNvSpPr>
          <p:nvPr/>
        </p:nvSpPr>
        <p:spPr>
          <a:xfrm>
            <a:off x="838200" y="1390650"/>
            <a:ext cx="552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kern/smp.c: smp_group_function_call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9D860D1-7180-460E-AA75-C90B338F05B5}"/>
              </a:ext>
            </a:extLst>
          </p:cNvPr>
          <p:cNvSpPr>
            <a:spLocks noGrp="1"/>
          </p:cNvSpPr>
          <p:nvPr/>
        </p:nvSpPr>
        <p:spPr>
          <a:xfrm>
            <a:off x="838200" y="1733550"/>
            <a:ext cx="5524500" cy="3562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for (cpu = 0; cpu &lt; NR_CPUS; cpu++) {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if (cpu == self || !ipi_ready[cpu]) continue;</a:t>
            </a:r>
          </a:p>
          <a:p>
            <a:endParaRPr sz="1125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spin_lock(&amp;ipi_mailbox_lock[cpu]);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ipi_done[cpu] = 0;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ipi_mailbox_write(cpu, IPI_MBOX_FN, (u_int)fn);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ipi_mailbox_write(cpu, IPI_MBOX_ARG0, arg0);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ipi_mailbox_write(cpu, IPI_MBOX_ARG1, arg1);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ipi_send(cpu, IPI_CALL);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ipi_wait_done(cpu);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ipi_mailbox_write(cpu, IPI_MBOX_FN, 0);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spin_unlock(&amp;ipi_mailbox_lock[cpu]);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D02900CB-F354-4D65-8FC6-ECB2DCD4BF67}"/>
              </a:ext>
            </a:extLst>
          </p:cNvPr>
          <p:cNvSpPr>
            <a:spLocks noGrp="1"/>
          </p:cNvSpPr>
          <p:nvPr/>
        </p:nvSpPr>
        <p:spPr>
          <a:xfrm>
            <a:off x="6800850" y="1333500"/>
            <a:ext cx="4705350" cy="1676400"/>
          </a:xfrm>
          <a:prstGeom prst="roundRect">
            <a:avLst>
              <a:gd name="adj" fmla="val 4545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62D3FCE-C1D0-4AA4-94AC-C99EE7957E17}"/>
              </a:ext>
            </a:extLst>
          </p:cNvPr>
          <p:cNvSpPr>
            <a:spLocks noGrp="1"/>
          </p:cNvSpPr>
          <p:nvPr/>
        </p:nvSpPr>
        <p:spPr>
          <a:xfrm>
            <a:off x="6800850" y="1333500"/>
            <a:ext cx="470535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85CA8B-1CAB-4396-8D78-B889A9E89A6A}"/>
              </a:ext>
            </a:extLst>
          </p:cNvPr>
          <p:cNvSpPr>
            <a:spLocks noGrp="1"/>
          </p:cNvSpPr>
          <p:nvPr/>
        </p:nvSpPr>
        <p:spPr>
          <a:xfrm>
            <a:off x="6953250" y="1390650"/>
            <a:ext cx="4400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kern/smp.c: ipi_wait_done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3477D0-2D34-4FAE-A18B-5121C293CA88}"/>
              </a:ext>
            </a:extLst>
          </p:cNvPr>
          <p:cNvSpPr>
            <a:spLocks noGrp="1"/>
          </p:cNvSpPr>
          <p:nvPr/>
        </p:nvSpPr>
        <p:spPr>
          <a:xfrm>
            <a:off x="6953250" y="1733550"/>
            <a:ext cx="440055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while (!ipi_done[target_cpu])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if (ipi_status_read(cpu_id()) != 0)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handle_ipi_irq();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} else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__asm__ volatile("nop");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B75E123-0881-4C4F-BE0B-A0FD2A232525}"/>
              </a:ext>
            </a:extLst>
          </p:cNvPr>
          <p:cNvSpPr>
            <a:spLocks noGrp="1"/>
          </p:cNvSpPr>
          <p:nvPr/>
        </p:nvSpPr>
        <p:spPr>
          <a:xfrm>
            <a:off x="6800850" y="3448050"/>
            <a:ext cx="80391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F566E25-2559-4007-BEC9-346DAAF536AE}"/>
              </a:ext>
            </a:extLst>
          </p:cNvPr>
          <p:cNvSpPr>
            <a:spLocks noGrp="1"/>
          </p:cNvSpPr>
          <p:nvPr/>
        </p:nvSpPr>
        <p:spPr>
          <a:xfrm>
            <a:off x="6934200" y="3619500"/>
            <a:ext cx="53721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mailbox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87ABAD5-AC97-45F4-9615-46B5686A4C97}"/>
              </a:ext>
            </a:extLst>
          </p:cNvPr>
          <p:cNvSpPr>
            <a:spLocks noGrp="1"/>
          </p:cNvSpPr>
          <p:nvPr/>
        </p:nvSpPr>
        <p:spPr>
          <a:xfrm>
            <a:off x="7614285" y="3695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D7F7EF8-90D8-4CD1-942F-E39AD1433635}"/>
              </a:ext>
            </a:extLst>
          </p:cNvPr>
          <p:cNvSpPr>
            <a:spLocks noGrp="1"/>
          </p:cNvSpPr>
          <p:nvPr/>
        </p:nvSpPr>
        <p:spPr>
          <a:xfrm>
            <a:off x="7776210" y="3448050"/>
            <a:ext cx="80391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FA71A1-06DE-4C45-BE4B-ACD7EF3B60CA}"/>
              </a:ext>
            </a:extLst>
          </p:cNvPr>
          <p:cNvSpPr>
            <a:spLocks noGrp="1"/>
          </p:cNvSpPr>
          <p:nvPr/>
        </p:nvSpPr>
        <p:spPr>
          <a:xfrm>
            <a:off x="7909560" y="3619500"/>
            <a:ext cx="53721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IPI_CALL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225F79-9F9F-4EC3-BFBA-C31FF54E7627}"/>
              </a:ext>
            </a:extLst>
          </p:cNvPr>
          <p:cNvSpPr>
            <a:spLocks noGrp="1"/>
          </p:cNvSpPr>
          <p:nvPr/>
        </p:nvSpPr>
        <p:spPr>
          <a:xfrm>
            <a:off x="8589645" y="3695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83081372-A463-4187-903E-08A9F47442DB}"/>
              </a:ext>
            </a:extLst>
          </p:cNvPr>
          <p:cNvSpPr>
            <a:spLocks noGrp="1"/>
          </p:cNvSpPr>
          <p:nvPr/>
        </p:nvSpPr>
        <p:spPr>
          <a:xfrm>
            <a:off x="8751570" y="3448050"/>
            <a:ext cx="80391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7AC8F99-8B71-4C10-B42C-CED58DA45A19}"/>
              </a:ext>
            </a:extLst>
          </p:cNvPr>
          <p:cNvSpPr>
            <a:spLocks noGrp="1"/>
          </p:cNvSpPr>
          <p:nvPr/>
        </p:nvSpPr>
        <p:spPr>
          <a:xfrm>
            <a:off x="8884920" y="3619500"/>
            <a:ext cx="53721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执行 fn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14D741-A7AB-49DD-8B49-E5444FFA2233}"/>
              </a:ext>
            </a:extLst>
          </p:cNvPr>
          <p:cNvSpPr>
            <a:spLocks noGrp="1"/>
          </p:cNvSpPr>
          <p:nvPr/>
        </p:nvSpPr>
        <p:spPr>
          <a:xfrm>
            <a:off x="9565005" y="3695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2E75792B-92CF-4A1B-ACD8-83C366759F62}"/>
              </a:ext>
            </a:extLst>
          </p:cNvPr>
          <p:cNvSpPr>
            <a:spLocks noGrp="1"/>
          </p:cNvSpPr>
          <p:nvPr/>
        </p:nvSpPr>
        <p:spPr>
          <a:xfrm>
            <a:off x="9726930" y="3448050"/>
            <a:ext cx="80391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5C9B35-50DF-4A0E-94E3-4F7BD548DF6E}"/>
              </a:ext>
            </a:extLst>
          </p:cNvPr>
          <p:cNvSpPr>
            <a:spLocks noGrp="1"/>
          </p:cNvSpPr>
          <p:nvPr/>
        </p:nvSpPr>
        <p:spPr>
          <a:xfrm>
            <a:off x="9860280" y="3619500"/>
            <a:ext cx="53721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done=1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6FE9EB3-47F8-4205-897D-0F67C210990E}"/>
              </a:ext>
            </a:extLst>
          </p:cNvPr>
          <p:cNvSpPr>
            <a:spLocks noGrp="1"/>
          </p:cNvSpPr>
          <p:nvPr/>
        </p:nvSpPr>
        <p:spPr>
          <a:xfrm>
            <a:off x="10540365" y="3695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53E30C1A-A980-42D6-83D1-1CF889BDCC97}"/>
              </a:ext>
            </a:extLst>
          </p:cNvPr>
          <p:cNvSpPr>
            <a:spLocks noGrp="1"/>
          </p:cNvSpPr>
          <p:nvPr/>
        </p:nvSpPr>
        <p:spPr>
          <a:xfrm>
            <a:off x="10702290" y="3448050"/>
            <a:ext cx="80391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DCB2584-2C63-48EA-957D-32048E232642}"/>
              </a:ext>
            </a:extLst>
          </p:cNvPr>
          <p:cNvSpPr>
            <a:spLocks noGrp="1"/>
          </p:cNvSpPr>
          <p:nvPr/>
        </p:nvSpPr>
        <p:spPr>
          <a:xfrm>
            <a:off x="10835640" y="3619500"/>
            <a:ext cx="53721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返回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55EDAE5-424F-4FC1-9E45-EB05F88A06C0}"/>
              </a:ext>
            </a:extLst>
          </p:cNvPr>
          <p:cNvSpPr>
            <a:spLocks noGrp="1"/>
          </p:cNvSpPr>
          <p:nvPr/>
        </p:nvSpPr>
        <p:spPr>
          <a:xfrm>
            <a:off x="6896100" y="462915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A211F94-44DB-41BF-869F-58F4F2635177}"/>
              </a:ext>
            </a:extLst>
          </p:cNvPr>
          <p:cNvSpPr>
            <a:spLocks noGrp="1"/>
          </p:cNvSpPr>
          <p:nvPr/>
        </p:nvSpPr>
        <p:spPr>
          <a:xfrm>
            <a:off x="7200900" y="46196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用途：TLB shootdown、远端 env kill poke、专项 IPI 测试。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CB61DEC-E091-4A22-BAD3-5848E969B687}"/>
              </a:ext>
            </a:extLst>
          </p:cNvPr>
          <p:cNvSpPr>
            <a:spLocks noGrp="1"/>
          </p:cNvSpPr>
          <p:nvPr/>
        </p:nvSpPr>
        <p:spPr>
          <a:xfrm>
            <a:off x="6896100" y="50292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A5E9614-F271-4F01-9155-A888C81A7370}"/>
              </a:ext>
            </a:extLst>
          </p:cNvPr>
          <p:cNvSpPr>
            <a:spLocks noGrp="1"/>
          </p:cNvSpPr>
          <p:nvPr/>
        </p:nvSpPr>
        <p:spPr>
          <a:xfrm>
            <a:off x="7200900" y="501967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等待远端 done 时，本 CPU 若收到 IPI 会主动处理，避免双向 IPI 相互等待。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D429C5C-8E0F-4763-806A-F6349295B0EE}"/>
              </a:ext>
            </a:extLst>
          </p:cNvPr>
          <p:cNvSpPr>
            <a:spLocks noGrp="1"/>
          </p:cNvSpPr>
          <p:nvPr/>
        </p:nvSpPr>
        <p:spPr>
          <a:xfrm>
            <a:off x="6896100" y="542925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228F8DA-4B1C-47E4-BF52-1FB930B70269}"/>
              </a:ext>
            </a:extLst>
          </p:cNvPr>
          <p:cNvSpPr>
            <a:spLocks noGrp="1"/>
          </p:cNvSpPr>
          <p:nvPr/>
        </p:nvSpPr>
        <p:spPr>
          <a:xfrm>
            <a:off x="7200900" y="5419725"/>
            <a:ext cx="400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当前默认共享内存 pending 模拟 IPI；MMIO IPI 布局保留在 include/malta.h。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AF7565A-8122-4E56-BC0B-79116561C365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kern/smp.c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6F0B7E4-780F-4B5D-A370-904FCA34330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0116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DF247AB-72F9-48DB-BB78-754FC1FB6510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089D5B-7A6B-4937-A0B4-6650E2A67499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同步：关本地中断不等于互斥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D0F819B-BCDE-44AB-94E3-7B984F0C65D2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953000" cy="4476750"/>
          </a:xfrm>
          <a:prstGeom prst="roundRect">
            <a:avLst>
              <a:gd name="adj" fmla="val 1702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5758FA-BAFD-45F2-AD13-FDF7D81ACFBF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9530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289D96-40A9-4409-B401-3B71B9D23D70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464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kern/spinlock.S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8BCC093-5F30-4B3B-9250-4C9062066240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46482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LEAF(spin_lock)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li      t1, 1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1:ll      t0, 0(a0)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bnez    t0, 1b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nop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sc      t1, 0(a0)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beqz    t1, 1b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li      t1, 1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sync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jr      ra</a:t>
            </a:r>
          </a:p>
          <a:p>
            <a:endParaRPr sz="1200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LEAF(spin_unlock)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sync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sw      zero, 0(a0)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jr      ra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E435D4-5A6F-4A7A-BCE6-8D58FD6BE00F}"/>
              </a:ext>
            </a:extLst>
          </p:cNvPr>
          <p:cNvSpPr>
            <a:spLocks noGrp="1"/>
          </p:cNvSpPr>
          <p:nvPr/>
        </p:nvSpPr>
        <p:spPr>
          <a:xfrm>
            <a:off x="6153150" y="13525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共享资源保护表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AB62D5D-51FC-4EB5-AD78-9CE6DA70C623}"/>
              </a:ext>
            </a:extLst>
          </p:cNvPr>
          <p:cNvSpPr>
            <a:spLocks noGrp="1"/>
          </p:cNvSpPr>
          <p:nvPr/>
        </p:nvSpPr>
        <p:spPr>
          <a:xfrm>
            <a:off x="6153150" y="1866900"/>
            <a:ext cx="4953000" cy="5143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1F6F4D7-85F8-4441-AB44-E939B7D6B572}"/>
              </a:ext>
            </a:extLst>
          </p:cNvPr>
          <p:cNvSpPr>
            <a:spLocks noGrp="1"/>
          </p:cNvSpPr>
          <p:nvPr/>
        </p:nvSpPr>
        <p:spPr>
          <a:xfrm>
            <a:off x="6343650" y="19716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console_lock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9460DF-3BDF-4ED3-89B8-BDE422D6CE4B}"/>
              </a:ext>
            </a:extLst>
          </p:cNvPr>
          <p:cNvSpPr>
            <a:spLocks noGrp="1"/>
          </p:cNvSpPr>
          <p:nvPr/>
        </p:nvSpPr>
        <p:spPr>
          <a:xfrm>
            <a:off x="8686800" y="19621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console I/O 串行化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F270505-B19C-4669-92BF-902878A8651B}"/>
              </a:ext>
            </a:extLst>
          </p:cNvPr>
          <p:cNvSpPr>
            <a:spLocks noGrp="1"/>
          </p:cNvSpPr>
          <p:nvPr/>
        </p:nvSpPr>
        <p:spPr>
          <a:xfrm>
            <a:off x="6153150" y="2552700"/>
            <a:ext cx="4953000" cy="514350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2CFF1C7-8281-476C-9589-C0A3712790B4}"/>
              </a:ext>
            </a:extLst>
          </p:cNvPr>
          <p:cNvSpPr>
            <a:spLocks noGrp="1"/>
          </p:cNvSpPr>
          <p:nvPr/>
        </p:nvSpPr>
        <p:spPr>
          <a:xfrm>
            <a:off x="6343650" y="26574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pmap_lock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7D61E6C-E9F2-4A40-AE54-30760BA9EBC1}"/>
              </a:ext>
            </a:extLst>
          </p:cNvPr>
          <p:cNvSpPr>
            <a:spLocks noGrp="1"/>
          </p:cNvSpPr>
          <p:nvPr/>
        </p:nvSpPr>
        <p:spPr>
          <a:xfrm>
            <a:off x="8686800" y="26479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page_free_list、pp_ref、页表项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85152A38-D4FE-4C3F-B4EA-CC7F0C230F89}"/>
              </a:ext>
            </a:extLst>
          </p:cNvPr>
          <p:cNvSpPr>
            <a:spLocks noGrp="1"/>
          </p:cNvSpPr>
          <p:nvPr/>
        </p:nvSpPr>
        <p:spPr>
          <a:xfrm>
            <a:off x="6153150" y="3238500"/>
            <a:ext cx="4953000" cy="5143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0110D1-FC40-484E-B62E-E4DB5323C3A8}"/>
              </a:ext>
            </a:extLst>
          </p:cNvPr>
          <p:cNvSpPr>
            <a:spLocks noGrp="1"/>
          </p:cNvSpPr>
          <p:nvPr/>
        </p:nvSpPr>
        <p:spPr>
          <a:xfrm>
            <a:off x="6343650" y="33432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asid_lock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C66A13-156B-4C2F-B979-FFF63F2FA790}"/>
              </a:ext>
            </a:extLst>
          </p:cNvPr>
          <p:cNvSpPr>
            <a:spLocks noGrp="1"/>
          </p:cNvSpPr>
          <p:nvPr/>
        </p:nvSpPr>
        <p:spPr>
          <a:xfrm>
            <a:off x="8686800" y="33337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ASID bitmap 分配与释放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BF8F58E6-EC49-46ED-A0CE-2339BBBAA28A}"/>
              </a:ext>
            </a:extLst>
          </p:cNvPr>
          <p:cNvSpPr>
            <a:spLocks noGrp="1"/>
          </p:cNvSpPr>
          <p:nvPr/>
        </p:nvSpPr>
        <p:spPr>
          <a:xfrm>
            <a:off x="6153150" y="3924300"/>
            <a:ext cx="4953000" cy="514350"/>
          </a:xfrm>
          <a:prstGeom prst="roundRect">
            <a:avLst>
              <a:gd name="adj" fmla="val 1111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687F44-B378-4936-A868-326EC889915C}"/>
              </a:ext>
            </a:extLst>
          </p:cNvPr>
          <p:cNvSpPr>
            <a:spLocks noGrp="1"/>
          </p:cNvSpPr>
          <p:nvPr/>
        </p:nvSpPr>
        <p:spPr>
          <a:xfrm>
            <a:off x="6343650" y="40290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env_sched_lock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AFDE5B7-3F2A-45B2-90BD-39FB025C4377}"/>
              </a:ext>
            </a:extLst>
          </p:cNvPr>
          <p:cNvSpPr>
            <a:spLocks noGrp="1"/>
          </p:cNvSpPr>
          <p:nvPr/>
        </p:nvSpPr>
        <p:spPr>
          <a:xfrm>
            <a:off x="8686800" y="40195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调度队列、运行标记、IPC 状态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AC6539B0-5794-443C-8DC9-09CE220F6874}"/>
              </a:ext>
            </a:extLst>
          </p:cNvPr>
          <p:cNvSpPr>
            <a:spLocks noGrp="1"/>
          </p:cNvSpPr>
          <p:nvPr/>
        </p:nvSpPr>
        <p:spPr>
          <a:xfrm>
            <a:off x="6153150" y="4610100"/>
            <a:ext cx="4953000" cy="51435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149DD72-5AD1-4293-A19B-076175458AA4}"/>
              </a:ext>
            </a:extLst>
          </p:cNvPr>
          <p:cNvSpPr>
            <a:spLocks noGrp="1"/>
          </p:cNvSpPr>
          <p:nvPr/>
        </p:nvSpPr>
        <p:spPr>
          <a:xfrm>
            <a:off x="6343650" y="471487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ipi_mailbox_lock[]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4D544B1-0575-46C2-B953-B51686DDBDF5}"/>
              </a:ext>
            </a:extLst>
          </p:cNvPr>
          <p:cNvSpPr>
            <a:spLocks noGrp="1"/>
          </p:cNvSpPr>
          <p:nvPr/>
        </p:nvSpPr>
        <p:spPr>
          <a:xfrm>
            <a:off x="8686800" y="470535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目标 CPU 的 mailbox 和 done 标志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9B3AE9F-DF08-45D8-ABFD-07BF5FCE83FA}"/>
              </a:ext>
            </a:extLst>
          </p:cNvPr>
          <p:cNvSpPr>
            <a:spLocks noGrp="1"/>
          </p:cNvSpPr>
          <p:nvPr/>
        </p:nvSpPr>
        <p:spPr>
          <a:xfrm>
            <a:off x="6153150" y="5429250"/>
            <a:ext cx="4953000" cy="819150"/>
          </a:xfrm>
          <a:prstGeom prst="roundRect">
            <a:avLst>
              <a:gd name="adj" fmla="val 9302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A8CEECA-EDF2-43AB-BA86-79AA49BBC571}"/>
              </a:ext>
            </a:extLst>
          </p:cNvPr>
          <p:cNvSpPr>
            <a:spLocks noGrp="1"/>
          </p:cNvSpPr>
          <p:nvPr/>
        </p:nvSpPr>
        <p:spPr>
          <a:xfrm>
            <a:off x="6153150" y="5429250"/>
            <a:ext cx="47625" cy="8191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FD760E-B80E-4FFA-97B5-754008B1B2DE}"/>
              </a:ext>
            </a:extLst>
          </p:cNvPr>
          <p:cNvSpPr>
            <a:spLocks noGrp="1"/>
          </p:cNvSpPr>
          <p:nvPr/>
        </p:nvSpPr>
        <p:spPr>
          <a:xfrm>
            <a:off x="6381750" y="5581650"/>
            <a:ext cx="4552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关键解释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00AEED8-7633-49C8-8B98-7396109083EE}"/>
              </a:ext>
            </a:extLst>
          </p:cNvPr>
          <p:cNvSpPr>
            <a:spLocks noGrp="1"/>
          </p:cNvSpPr>
          <p:nvPr/>
        </p:nvSpPr>
        <p:spPr>
          <a:xfrm>
            <a:off x="6381750" y="5943600"/>
            <a:ext cx="45529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关中断只能阻止本 CPU 被打断，阻止不了另一个 CPU 同时修改共享链表或计数。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3BCF41-E0C1-43AA-B628-A0A65C3212B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include/spinlock.h, kern/spinlock.S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2A77CDC-5B0E-4A02-BE9E-70898EE0E88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648449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AF26E8A5-7487-467A-AF76-172DCE2D41D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E85DA60-6C57-4F66-9C3C-8B22E285B5D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内存/TLB：修改页表后必须跨核失效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FD180744-CBC7-49A0-A691-0EAE2BACE555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953000" cy="2381250"/>
          </a:xfrm>
          <a:prstGeom prst="roundRect">
            <a:avLst>
              <a:gd name="adj" fmla="val 3200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3DFE72F-40CA-45EA-9F9C-42FAA3D9F40F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49530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69ED01-BDAD-47FF-8C5E-E25D52CA6EEA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464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9731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97316"/>
                </a:solidFill>
                <a:latin typeface="Consolas"/>
                <a:ea typeface="Consolas"/>
                <a:cs typeface="Consolas"/>
              </a:rPr>
              <a:t>kern/pmap.c: page_insert rule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68AB53-763D-46EB-90C2-623744292D1B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46482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spin_lock(&amp;pmap_lock);</a:t>
            </a:r>
          </a:p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...</a:t>
            </a:r>
          </a:p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*pte = page2pa(pp) | perm | PTE_C_CACHEABLE | PTE_V;</a:t>
            </a:r>
          </a:p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pp-&gt;pp_ref++;</a:t>
            </a:r>
          </a:p>
          <a:p>
            <a:endParaRPr sz="1350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spin_unlock(&amp;pmap_lock);</a:t>
            </a:r>
          </a:p>
          <a:p>
            <a:pPr algn="l">
              <a:defRPr sz="13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tlb_invalidate(asid, va);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AD5A809-51B8-40FC-893F-EE2361BAD410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953000" cy="1847850"/>
          </a:xfrm>
          <a:prstGeom prst="roundRect">
            <a:avLst>
              <a:gd name="adj" fmla="val 4124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A9316F-8924-4B28-8463-BE843E05E43E}"/>
              </a:ext>
            </a:extLst>
          </p:cNvPr>
          <p:cNvSpPr>
            <a:spLocks noGrp="1"/>
          </p:cNvSpPr>
          <p:nvPr/>
        </p:nvSpPr>
        <p:spPr>
          <a:xfrm>
            <a:off x="685800" y="3943350"/>
            <a:ext cx="49530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0F3C1A-377B-4671-9347-C4273FF3CF22}"/>
              </a:ext>
            </a:extLst>
          </p:cNvPr>
          <p:cNvSpPr>
            <a:spLocks noGrp="1"/>
          </p:cNvSpPr>
          <p:nvPr/>
        </p:nvSpPr>
        <p:spPr>
          <a:xfrm>
            <a:off x="838200" y="4000500"/>
            <a:ext cx="464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kern/tlbex.c: tlb_invalidate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206739A-5639-4817-9B2F-75208A2321DC}"/>
              </a:ext>
            </a:extLst>
          </p:cNvPr>
          <p:cNvSpPr>
            <a:spLocks noGrp="1"/>
          </p:cNvSpPr>
          <p:nvPr/>
        </p:nvSpPr>
        <p:spPr>
          <a:xfrm>
            <a:off x="838200" y="4343400"/>
            <a:ext cx="4648200" cy="1371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void tlb_invalidate(u_int asid, u_long va)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tlb_invalidate_local(asid, va);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if (smp_boot_ready == SMP_BOOT_READY) {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smp_group_function_call(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  (void (*)(u_int, u_int))tlb_invalidate_local,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  asid, (u_int)va);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20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C1A7B131-E191-4905-8C0D-2B049379A0B2}"/>
              </a:ext>
            </a:extLst>
          </p:cNvPr>
          <p:cNvSpPr>
            <a:spLocks noGrp="1"/>
          </p:cNvSpPr>
          <p:nvPr/>
        </p:nvSpPr>
        <p:spPr>
          <a:xfrm>
            <a:off x="6248400" y="1466850"/>
            <a:ext cx="4572000" cy="742950"/>
          </a:xfrm>
          <a:prstGeom prst="roundRect">
            <a:avLst>
              <a:gd name="adj" fmla="val 10256"/>
            </a:avLst>
          </a:prstGeom>
          <a:solidFill>
            <a:srgbClr val="0F172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95C6D9A-F72D-4CBD-BA5D-3044E411FDD5}"/>
              </a:ext>
            </a:extLst>
          </p:cNvPr>
          <p:cNvSpPr>
            <a:spLocks noGrp="1"/>
          </p:cNvSpPr>
          <p:nvPr/>
        </p:nvSpPr>
        <p:spPr>
          <a:xfrm>
            <a:off x="6553200" y="17145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CPU0 修改页表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FF6DCD-251D-446A-A197-F257D482DB50}"/>
              </a:ext>
            </a:extLst>
          </p:cNvPr>
          <p:cNvSpPr>
            <a:spLocks noGrp="1"/>
          </p:cNvSpPr>
          <p:nvPr/>
        </p:nvSpPr>
        <p:spPr>
          <a:xfrm>
            <a:off x="8248650" y="1714500"/>
            <a:ext cx="419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B290BD-BEAA-460B-9A7A-45537B8395B9}"/>
              </a:ext>
            </a:extLst>
          </p:cNvPr>
          <p:cNvSpPr>
            <a:spLocks noGrp="1"/>
          </p:cNvSpPr>
          <p:nvPr/>
        </p:nvSpPr>
        <p:spPr>
          <a:xfrm>
            <a:off x="8763000" y="171450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CPU1 TLB 仍可能缓存旧映射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6E5AD79-8EC8-483D-9DF9-BBF8763F3E0D}"/>
              </a:ext>
            </a:extLst>
          </p:cNvPr>
          <p:cNvSpPr>
            <a:spLocks noGrp="1"/>
          </p:cNvSpPr>
          <p:nvPr/>
        </p:nvSpPr>
        <p:spPr>
          <a:xfrm>
            <a:off x="6381750" y="276225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499743-95F9-4AD3-863F-98CCE6211A6E}"/>
              </a:ext>
            </a:extLst>
          </p:cNvPr>
          <p:cNvSpPr>
            <a:spLocks noGrp="1"/>
          </p:cNvSpPr>
          <p:nvPr/>
        </p:nvSpPr>
        <p:spPr>
          <a:xfrm>
            <a:off x="6686550" y="2752725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每个 CPU 有独立 TLB，页表改动不是自动可见。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0F5D8B-D58B-408C-A561-3D932CA9BC43}"/>
              </a:ext>
            </a:extLst>
          </p:cNvPr>
          <p:cNvSpPr>
            <a:spLocks noGrp="1"/>
          </p:cNvSpPr>
          <p:nvPr/>
        </p:nvSpPr>
        <p:spPr>
          <a:xfrm>
            <a:off x="6381750" y="329565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006D7B-2A50-4AAC-8918-7FB53D5B05E2}"/>
              </a:ext>
            </a:extLst>
          </p:cNvPr>
          <p:cNvSpPr>
            <a:spLocks noGrp="1"/>
          </p:cNvSpPr>
          <p:nvPr/>
        </p:nvSpPr>
        <p:spPr>
          <a:xfrm>
            <a:off x="6686550" y="3286125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本地先 tlb_out，再通过 IPI 让其它 CPU 执行 tlb_invalidate_local。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18FF7DA-E2D2-4737-8819-E169B9221612}"/>
              </a:ext>
            </a:extLst>
          </p:cNvPr>
          <p:cNvSpPr>
            <a:spLocks noGrp="1"/>
          </p:cNvSpPr>
          <p:nvPr/>
        </p:nvSpPr>
        <p:spPr>
          <a:xfrm>
            <a:off x="6381750" y="382905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061DCCC-82B5-4C15-9517-232DFFD89A19}"/>
              </a:ext>
            </a:extLst>
          </p:cNvPr>
          <p:cNvSpPr>
            <a:spLocks noGrp="1"/>
          </p:cNvSpPr>
          <p:nvPr/>
        </p:nvSpPr>
        <p:spPr>
          <a:xfrm>
            <a:off x="6686550" y="3819525"/>
            <a:ext cx="4191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不能持 pmap_lock 做 IPI 等待，否则远端若需要同一把锁就会死锁。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A721512-34C1-458B-81BB-AE7F5319FC54}"/>
              </a:ext>
            </a:extLst>
          </p:cNvPr>
          <p:cNvSpPr>
            <a:spLocks noGrp="1"/>
          </p:cNvSpPr>
          <p:nvPr/>
        </p:nvSpPr>
        <p:spPr>
          <a:xfrm>
            <a:off x="6248400" y="5162550"/>
            <a:ext cx="4572000" cy="66675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B7E87E2-A499-4C49-984B-496E32976AE7}"/>
              </a:ext>
            </a:extLst>
          </p:cNvPr>
          <p:cNvSpPr>
            <a:spLocks noGrp="1"/>
          </p:cNvSpPr>
          <p:nvPr/>
        </p:nvSpPr>
        <p:spPr>
          <a:xfrm>
            <a:off x="6248400" y="5162550"/>
            <a:ext cx="47625" cy="666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B82B77E-47DB-4B91-AC9D-95669381A587}"/>
              </a:ext>
            </a:extLst>
          </p:cNvPr>
          <p:cNvSpPr>
            <a:spLocks noGrp="1"/>
          </p:cNvSpPr>
          <p:nvPr/>
        </p:nvSpPr>
        <p:spPr>
          <a:xfrm>
            <a:off x="6477000" y="5314950"/>
            <a:ext cx="4171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锁顺序原则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80AF84-1139-41D7-A933-62533C00B822}"/>
              </a:ext>
            </a:extLst>
          </p:cNvPr>
          <p:cNvSpPr>
            <a:spLocks noGrp="1"/>
          </p:cNvSpPr>
          <p:nvPr/>
        </p:nvSpPr>
        <p:spPr>
          <a:xfrm>
            <a:off x="6477000" y="5676900"/>
            <a:ext cx="417195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页表/引用计数在锁内改；TLB 广播在锁外做。这是正确性和死锁规避的分界线。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DEAC9FB-5685-41B0-93CA-D399F15678E2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kern/pmap.c, kern/tlbex.c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DD821D-8F6A-4283-B1FA-71ABEB975E1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1771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0135E439-E899-4F02-B6F7-3843C213D182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C3E56C-E003-4D27-9DF4-092275D4310B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调度器：保证同一 env 不会双核并发运行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D872E727-ED69-42C7-A597-7D49DFEE7782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6057900" cy="4343400"/>
          </a:xfrm>
          <a:prstGeom prst="roundRect">
            <a:avLst>
              <a:gd name="adj" fmla="val 1754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7727C0-A8C6-4B0C-9546-B2125438A2B9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60579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E31C7B4-E5C0-4131-B166-7CF8590D2322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575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kern/sched.c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D2A8EE-B269-4951-8D78-680061A76D39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57531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while (e != NULL) {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if ((e-&gt;env_pinned_cpu &lt; 0 || e-&gt;env_pinned_cpu == cpu) &amp;&amp;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  !e-&gt;env_kill_pending &amp;&amp;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  (e-&gt;env_running == 0 || e-&gt;env_cpu_id == cpu)) {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goto found;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 = TAILQ_NEXT(e, env_sched_link);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1275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found: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e-&gt;env_running = 1;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e-&gt;env_cpu_id = cpu;</a:t>
            </a:r>
          </a:p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count = e-&gt;env_pri;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D41B65D-C33F-4342-B439-5C9415D0156F}"/>
              </a:ext>
            </a:extLst>
          </p:cNvPr>
          <p:cNvSpPr>
            <a:spLocks noGrp="1"/>
          </p:cNvSpPr>
          <p:nvPr/>
        </p:nvSpPr>
        <p:spPr>
          <a:xfrm>
            <a:off x="7181850" y="142875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新增 env 字段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AFAD0B-14AF-4E53-B4E5-875B4D1713BD}"/>
              </a:ext>
            </a:extLst>
          </p:cNvPr>
          <p:cNvSpPr>
            <a:spLocks noGrp="1"/>
          </p:cNvSpPr>
          <p:nvPr/>
        </p:nvSpPr>
        <p:spPr>
          <a:xfrm>
            <a:off x="7181850" y="1943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env_running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A0FCC37-BCD0-4433-8BB3-C74EA479DF02}"/>
              </a:ext>
            </a:extLst>
          </p:cNvPr>
          <p:cNvSpPr>
            <a:spLocks noGrp="1"/>
          </p:cNvSpPr>
          <p:nvPr/>
        </p:nvSpPr>
        <p:spPr>
          <a:xfrm>
            <a:off x="8839200" y="19335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该 env 是否已经被某个 CPU 占用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1C40F19-7FB2-49BC-8C94-F71C16BAF097}"/>
              </a:ext>
            </a:extLst>
          </p:cNvPr>
          <p:cNvSpPr>
            <a:spLocks noGrp="1"/>
          </p:cNvSpPr>
          <p:nvPr/>
        </p:nvSpPr>
        <p:spPr>
          <a:xfrm>
            <a:off x="7181850" y="2514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env_cpu_id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12736C0-8215-4EE9-9321-EB992948975C}"/>
              </a:ext>
            </a:extLst>
          </p:cNvPr>
          <p:cNvSpPr>
            <a:spLocks noGrp="1"/>
          </p:cNvSpPr>
          <p:nvPr/>
        </p:nvSpPr>
        <p:spPr>
          <a:xfrm>
            <a:off x="8839200" y="2505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占用它的 CPU，-1 表示无人运行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CEA0C1-659D-4287-84BE-653B318087EC}"/>
              </a:ext>
            </a:extLst>
          </p:cNvPr>
          <p:cNvSpPr>
            <a:spLocks noGrp="1"/>
          </p:cNvSpPr>
          <p:nvPr/>
        </p:nvSpPr>
        <p:spPr>
          <a:xfrm>
            <a:off x="7181850" y="3086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env_pinned_cpu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2DCDC2-E3D6-4DEC-8E5A-75E0044B449C}"/>
              </a:ext>
            </a:extLst>
          </p:cNvPr>
          <p:cNvSpPr>
            <a:spLocks noGrp="1"/>
          </p:cNvSpPr>
          <p:nvPr/>
        </p:nvSpPr>
        <p:spPr>
          <a:xfrm>
            <a:off x="8839200" y="30765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 绑定；fs_serv 暂时固定 CPU0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470641-C012-4D4D-BFB6-74334A81EDFA}"/>
              </a:ext>
            </a:extLst>
          </p:cNvPr>
          <p:cNvSpPr>
            <a:spLocks noGrp="1"/>
          </p:cNvSpPr>
          <p:nvPr/>
        </p:nvSpPr>
        <p:spPr>
          <a:xfrm>
            <a:off x="7181850" y="3657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env_kill_pending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F686E8A-4248-41AC-A51C-E477C9EBEB17}"/>
              </a:ext>
            </a:extLst>
          </p:cNvPr>
          <p:cNvSpPr>
            <a:spLocks noGrp="1"/>
          </p:cNvSpPr>
          <p:nvPr/>
        </p:nvSpPr>
        <p:spPr>
          <a:xfrm>
            <a:off x="8839200" y="36480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远端销毁请求，调度器跳过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0DF3B5-9E14-4F1D-9AAF-39AA164747B0}"/>
              </a:ext>
            </a:extLst>
          </p:cNvPr>
          <p:cNvSpPr>
            <a:spLocks noGrp="1"/>
          </p:cNvSpPr>
          <p:nvPr/>
        </p:nvSpPr>
        <p:spPr>
          <a:xfrm>
            <a:off x="7181850" y="42291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27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sched_count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2628AA-167D-4633-9FBB-8FA748D04034}"/>
              </a:ext>
            </a:extLst>
          </p:cNvPr>
          <p:cNvSpPr>
            <a:spLocks noGrp="1"/>
          </p:cNvSpPr>
          <p:nvPr/>
        </p:nvSpPr>
        <p:spPr>
          <a:xfrm>
            <a:off x="8839200" y="4219575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每核时间片，不再用 static int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ED8399DB-263A-4697-A534-055CB467728C}"/>
              </a:ext>
            </a:extLst>
          </p:cNvPr>
          <p:cNvSpPr>
            <a:spLocks noGrp="1"/>
          </p:cNvSpPr>
          <p:nvPr/>
        </p:nvSpPr>
        <p:spPr>
          <a:xfrm>
            <a:off x="7181850" y="5143500"/>
            <a:ext cx="4095750" cy="666750"/>
          </a:xfrm>
          <a:prstGeom prst="roundRect">
            <a:avLst>
              <a:gd name="adj" fmla="val 11429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3740B3C-F343-4FE6-B130-37FD1A6679D3}"/>
              </a:ext>
            </a:extLst>
          </p:cNvPr>
          <p:cNvSpPr>
            <a:spLocks noGrp="1"/>
          </p:cNvSpPr>
          <p:nvPr/>
        </p:nvSpPr>
        <p:spPr>
          <a:xfrm>
            <a:off x="7181850" y="5143500"/>
            <a:ext cx="47625" cy="666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2EE7485-16E5-4093-BCD7-E9E8FA4087B3}"/>
              </a:ext>
            </a:extLst>
          </p:cNvPr>
          <p:cNvSpPr>
            <a:spLocks noGrp="1"/>
          </p:cNvSpPr>
          <p:nvPr/>
        </p:nvSpPr>
        <p:spPr>
          <a:xfrm>
            <a:off x="7410450" y="5295900"/>
            <a:ext cx="36957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核心 invariant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1A2526-869C-4ADB-9213-2F315D64A3AF}"/>
              </a:ext>
            </a:extLst>
          </p:cNvPr>
          <p:cNvSpPr>
            <a:spLocks noGrp="1"/>
          </p:cNvSpPr>
          <p:nvPr/>
        </p:nvSpPr>
        <p:spPr>
          <a:xfrm>
            <a:off x="7410450" y="5657850"/>
            <a:ext cx="3695700" cy="5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选中 env 和标记 running 必须在同一把 env_sched_lock 内完成，否则两个 CPU 可能同时拿到同一个 runnable env。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AA4E9A2-EDA3-4D41-B15A-70927201C5DD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include/env.h, kern/sched.c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28D77E-B8B0-4B73-BD52-D722855004C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44394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D57CF4B-EAF7-454B-8170-1BD5C9BCC461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494353-1426-4DD9-889F-4A24DECB612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syscall / IPC：当前上下文与唤醒顺序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44C3686-AF0E-41AB-8721-4E7E7A7A53A8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6096000" cy="4476750"/>
          </a:xfrm>
          <a:prstGeom prst="roundRect">
            <a:avLst>
              <a:gd name="adj" fmla="val 1702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2CDE88-EE45-4CDD-8E70-029C38E36CAE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60960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6661896-938A-4D65-8FC2-E4F0F2ADE79F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5791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kern/syscall_all.c: IPC SMP ordering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88ACC2-A82A-44D4-9223-6389DC7B9E16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5791200" cy="400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spin_lock(&amp;env_sched_lock);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cpu_curenv()-&gt;env_ipc_recving = 1;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cpu_curenv()-&gt;env_status = ENV_NOT_RUNNABLE;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cpu_curenv()-&gt;env_running = 0;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cpu_curenv()-&gt;env_cpu_id = -1;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TAILQ_REMOVE(&amp;env_sched_list, cpu_curenv(), env_sched_link);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spin_unlock(&amp;env_sched_lock);</a:t>
            </a:r>
          </a:p>
          <a:p>
            <a:endParaRPr sz="1050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/* send: page_insert 完成后再唤醒接收方 */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e-&gt;env_ipc_value = value;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e-&gt;env_ipc_from = cpu_curenv()-&gt;env_id;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e-&gt;env_ipc_perm = ipc_perm;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spin_lock(&amp;env_sched_lock);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e-&gt;env_status = ENV_RUNNABLE;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TAILQ_INSERT_TAIL(&amp;env_sched_list, e, env_sched_link);</a:t>
            </a:r>
          </a:p>
          <a:p>
            <a:pPr algn="l">
              <a:defRPr sz="1050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spin_unlock(&amp;env_sched_lock);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7E0BB007-78DB-419B-8506-0BC75E9B805E}"/>
              </a:ext>
            </a:extLst>
          </p:cNvPr>
          <p:cNvSpPr>
            <a:spLocks noGrp="1"/>
          </p:cNvSpPr>
          <p:nvPr/>
        </p:nvSpPr>
        <p:spPr>
          <a:xfrm>
            <a:off x="7143750" y="1390650"/>
            <a:ext cx="390525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2A9813-25F5-41C1-B87D-259896FCFD3C}"/>
              </a:ext>
            </a:extLst>
          </p:cNvPr>
          <p:cNvSpPr>
            <a:spLocks noGrp="1"/>
          </p:cNvSpPr>
          <p:nvPr/>
        </p:nvSpPr>
        <p:spPr>
          <a:xfrm>
            <a:off x="7143750" y="1390650"/>
            <a:ext cx="47625" cy="102870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EBDF29-0A85-4011-80A9-E9A152347724}"/>
              </a:ext>
            </a:extLst>
          </p:cNvPr>
          <p:cNvSpPr>
            <a:spLocks noGrp="1"/>
          </p:cNvSpPr>
          <p:nvPr/>
        </p:nvSpPr>
        <p:spPr>
          <a:xfrm>
            <a:off x="7372350" y="154305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当前 env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E45A72-FAFC-4CD6-9B2E-51560C80610E}"/>
              </a:ext>
            </a:extLst>
          </p:cNvPr>
          <p:cNvSpPr>
            <a:spLocks noGrp="1"/>
          </p:cNvSpPr>
          <p:nvPr/>
        </p:nvSpPr>
        <p:spPr>
          <a:xfrm>
            <a:off x="7372350" y="1905000"/>
            <a:ext cx="3505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当前进程相关路径使用 cpu_curenv()，避免全局 curenv 被另一个 CPU 覆盖。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46F5FF1-DC90-4776-8301-10F303AB5CD8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3905250" cy="1028700"/>
          </a:xfrm>
          <a:prstGeom prst="roundRect">
            <a:avLst>
              <a:gd name="adj" fmla="val 7407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38D824-ECE5-4E21-A761-4FF31B5BE9F1}"/>
              </a:ext>
            </a:extLst>
          </p:cNvPr>
          <p:cNvSpPr>
            <a:spLocks noGrp="1"/>
          </p:cNvSpPr>
          <p:nvPr/>
        </p:nvSpPr>
        <p:spPr>
          <a:xfrm>
            <a:off x="7143750" y="2686050"/>
            <a:ext cx="47625" cy="1028700"/>
          </a:xfrm>
          <a:prstGeom prst="rect">
            <a:avLst/>
          </a:prstGeom>
          <a:solidFill>
            <a:srgbClr val="A3E635"/>
          </a:solidFill>
          <a:ln w="0">
            <a:solidFill>
              <a:srgbClr val="A3E63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BAA3D9-8AED-4FBD-965D-0E1331504327}"/>
              </a:ext>
            </a:extLst>
          </p:cNvPr>
          <p:cNvSpPr>
            <a:spLocks noGrp="1"/>
          </p:cNvSpPr>
          <p:nvPr/>
        </p:nvSpPr>
        <p:spPr>
          <a:xfrm>
            <a:off x="7372350" y="283845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当前 trapframe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4F5E59-F471-4EA4-96EA-2CDA747F48BC}"/>
              </a:ext>
            </a:extLst>
          </p:cNvPr>
          <p:cNvSpPr>
            <a:spLocks noGrp="1"/>
          </p:cNvSpPr>
          <p:nvPr/>
        </p:nvSpPr>
        <p:spPr>
          <a:xfrm>
            <a:off x="7372350" y="3200400"/>
            <a:ext cx="35052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sys_exofork / sys_set_trapframe 从当前 CPU 的内核栈读写上下文。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258DF41C-2C48-415A-80BD-CB6BE8865CF1}"/>
              </a:ext>
            </a:extLst>
          </p:cNvPr>
          <p:cNvSpPr>
            <a:spLocks noGrp="1"/>
          </p:cNvSpPr>
          <p:nvPr/>
        </p:nvSpPr>
        <p:spPr>
          <a:xfrm>
            <a:off x="7143750" y="3981450"/>
            <a:ext cx="3905250" cy="1257300"/>
          </a:xfrm>
          <a:prstGeom prst="roundRect">
            <a:avLst>
              <a:gd name="adj" fmla="val 606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61D105-4101-430E-8CF2-DE75483A93AC}"/>
              </a:ext>
            </a:extLst>
          </p:cNvPr>
          <p:cNvSpPr>
            <a:spLocks noGrp="1"/>
          </p:cNvSpPr>
          <p:nvPr/>
        </p:nvSpPr>
        <p:spPr>
          <a:xfrm>
            <a:off x="7143750" y="3981450"/>
            <a:ext cx="47625" cy="125730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BA71D29-E510-4ADA-82B3-C7D21945AC2E}"/>
              </a:ext>
            </a:extLst>
          </p:cNvPr>
          <p:cNvSpPr>
            <a:spLocks noGrp="1"/>
          </p:cNvSpPr>
          <p:nvPr/>
        </p:nvSpPr>
        <p:spPr>
          <a:xfrm>
            <a:off x="7372350" y="4133850"/>
            <a:ext cx="3505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IPC 顺序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FBEB84-7EC4-4F77-9508-687CA0E36CF1}"/>
              </a:ext>
            </a:extLst>
          </p:cNvPr>
          <p:cNvSpPr>
            <a:spLocks noGrp="1"/>
          </p:cNvSpPr>
          <p:nvPr/>
        </p:nvSpPr>
        <p:spPr>
          <a:xfrm>
            <a:off x="7372350" y="4495800"/>
            <a:ext cx="35052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先完成共享页映射和 IPC 元数据，再唤醒接收方，避免另一个 CPU 看见半完成状态。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1F0371-65A5-4A50-9755-5A7D57D96500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kern/syscall_all.c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E5AFB73-952A-444C-ADC1-A3D54E0411FE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869610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87F3F750-2234-42C2-8CD5-36BF7E051B0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79D53BB-7845-483C-B39B-9262AC041A65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远端 env_destroy：由目标 CPU 在安全点释放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157BD81-F688-42FF-9593-7456A8E356A2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143500" cy="4343400"/>
          </a:xfrm>
          <a:prstGeom prst="roundRect">
            <a:avLst>
              <a:gd name="adj" fmla="val 1754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A6C948-F23E-4B0E-85A1-5477CBE22ABF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51435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BE6B172-5F5C-4513-B4C7-E82B988A4A94}"/>
              </a:ext>
            </a:extLst>
          </p:cNvPr>
          <p:cNvSpPr>
            <a:spLocks noGrp="1"/>
          </p:cNvSpPr>
          <p:nvPr/>
        </p:nvSpPr>
        <p:spPr>
          <a:xfrm>
            <a:off x="838200" y="1352550"/>
            <a:ext cx="4838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97316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F97316"/>
                </a:solidFill>
                <a:latin typeface="Consolas"/>
                <a:ea typeface="Consolas"/>
                <a:cs typeface="Consolas"/>
              </a:rPr>
              <a:t>kern/env.c: env_destroy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E87F176-2FA0-4A9F-99FA-04C1A5A263FE}"/>
              </a:ext>
            </a:extLst>
          </p:cNvPr>
          <p:cNvSpPr>
            <a:spLocks noGrp="1"/>
          </p:cNvSpPr>
          <p:nvPr/>
        </p:nvSpPr>
        <p:spPr>
          <a:xfrm>
            <a:off x="838200" y="1695450"/>
            <a:ext cx="4838700" cy="3867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spin_lock(&amp;env_sched_lock);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if (e-&gt;env_running &amp;&amp; e-&gt;env_cpu_id != cpu_id()) {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e-&gt;env_kill_pending = 1;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e-&gt;env_kill_done = 0;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envid = e-&gt;env_id;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remote_running = 1;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 else {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e-&gt;env_kill_pending = 1;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spin_unlock(&amp;env_sched_lock);</a:t>
            </a:r>
          </a:p>
          <a:p>
            <a:endParaRPr sz="1125" b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if (remote_running) {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env_wait_remote_destroy(e, envid);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return;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defRPr sz="11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env_free(e);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9790F8A4-A9FA-4013-83CC-8C2EEAFD942E}"/>
              </a:ext>
            </a:extLst>
          </p:cNvPr>
          <p:cNvSpPr>
            <a:spLocks noGrp="1"/>
          </p:cNvSpPr>
          <p:nvPr/>
        </p:nvSpPr>
        <p:spPr>
          <a:xfrm>
            <a:off x="6191250" y="1295399"/>
            <a:ext cx="5314950" cy="3324225"/>
          </a:xfrm>
          <a:prstGeom prst="roundRect">
            <a:avLst>
              <a:gd name="adj" fmla="val 2581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E74D3E-72F0-47FC-AC44-FF836B7B9FD7}"/>
              </a:ext>
            </a:extLst>
          </p:cNvPr>
          <p:cNvSpPr>
            <a:spLocks noGrp="1"/>
          </p:cNvSpPr>
          <p:nvPr/>
        </p:nvSpPr>
        <p:spPr>
          <a:xfrm>
            <a:off x="6191250" y="1295400"/>
            <a:ext cx="531495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BF03FD-FF44-4250-984C-506E65CA4DBE}"/>
              </a:ext>
            </a:extLst>
          </p:cNvPr>
          <p:cNvSpPr>
            <a:spLocks noGrp="1"/>
          </p:cNvSpPr>
          <p:nvPr/>
        </p:nvSpPr>
        <p:spPr>
          <a:xfrm>
            <a:off x="6343650" y="1352550"/>
            <a:ext cx="5010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kern/env.c: safe point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732BB6-9AE3-4476-A27B-9A554CD6C468}"/>
              </a:ext>
            </a:extLst>
          </p:cNvPr>
          <p:cNvSpPr>
            <a:spLocks noGrp="1"/>
          </p:cNvSpPr>
          <p:nvPr/>
        </p:nvSpPr>
        <p:spPr>
          <a:xfrm>
            <a:off x="6343650" y="1695450"/>
            <a:ext cx="5010150" cy="2476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void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env_check_kill_pending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(void) {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struct Env *e =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cpu_curenv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if (e == NULL || !e-&gt;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env_kill_pending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) return;</a:t>
            </a:r>
          </a:p>
          <a:p>
            <a:endParaRPr sz="975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env_free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(e);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cpu_data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[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cpu_id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()].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curenv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= NULL;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printk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("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i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am killed remotely ... \n");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schedule(1);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975" b="0" dirty="0">
              <a:solidFill>
                <a:srgbClr val="DDE7F3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static void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env_wait_remote_destroy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(struct Env *e,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u_int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envid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u_int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status =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env_irq_save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smp_group_function_call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env_remote_kill_poke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envid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, 0);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while (e-&gt;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env_id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==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envid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&amp;&amp; !e-&gt;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env_kill_done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handle_ipi_irq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  __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asm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__ volatile("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nop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");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975" b="0" dirty="0" err="1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env_irq_restore</a:t>
            </a: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(status);</a:t>
            </a:r>
          </a:p>
          <a:p>
            <a:pPr algn="l">
              <a:defRPr sz="9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975" b="0" dirty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5D7FFCC-BE6C-497B-8273-88EA27B0DE2D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40AFEB1-BC23-43EF-B9E0-F92DB71E0C42}"/>
              </a:ext>
            </a:extLst>
          </p:cNvPr>
          <p:cNvSpPr>
            <a:spLocks noGrp="1"/>
          </p:cNvSpPr>
          <p:nvPr/>
        </p:nvSpPr>
        <p:spPr>
          <a:xfrm>
            <a:off x="63246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请求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4645867-026D-4A58-B6F9-6DA5D9A493D2}"/>
              </a:ext>
            </a:extLst>
          </p:cNvPr>
          <p:cNvSpPr>
            <a:spLocks noGrp="1"/>
          </p:cNvSpPr>
          <p:nvPr/>
        </p:nvSpPr>
        <p:spPr>
          <a:xfrm>
            <a:off x="6943725" y="49149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D3ED1CF-39E5-4085-A913-B23B9E42C265}"/>
              </a:ext>
            </a:extLst>
          </p:cNvPr>
          <p:cNvSpPr>
            <a:spLocks noGrp="1"/>
          </p:cNvSpPr>
          <p:nvPr/>
        </p:nvSpPr>
        <p:spPr>
          <a:xfrm>
            <a:off x="71056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C025B2-E73D-440D-8376-8547C13CF4A9}"/>
              </a:ext>
            </a:extLst>
          </p:cNvPr>
          <p:cNvSpPr>
            <a:spLocks noGrp="1"/>
          </p:cNvSpPr>
          <p:nvPr/>
        </p:nvSpPr>
        <p:spPr>
          <a:xfrm>
            <a:off x="72390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标记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8C68BE-ECC8-45B8-ABE4-45B58EDFD75C}"/>
              </a:ext>
            </a:extLst>
          </p:cNvPr>
          <p:cNvSpPr>
            <a:spLocks noGrp="1"/>
          </p:cNvSpPr>
          <p:nvPr/>
        </p:nvSpPr>
        <p:spPr>
          <a:xfrm>
            <a:off x="7858125" y="49149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7DFD413-EF40-4902-819D-BAD980938E09}"/>
              </a:ext>
            </a:extLst>
          </p:cNvPr>
          <p:cNvSpPr>
            <a:spLocks noGrp="1"/>
          </p:cNvSpPr>
          <p:nvPr/>
        </p:nvSpPr>
        <p:spPr>
          <a:xfrm>
            <a:off x="80200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484A61-C751-48D5-BC13-E0F0886A0C8A}"/>
              </a:ext>
            </a:extLst>
          </p:cNvPr>
          <p:cNvSpPr>
            <a:spLocks noGrp="1"/>
          </p:cNvSpPr>
          <p:nvPr/>
        </p:nvSpPr>
        <p:spPr>
          <a:xfrm>
            <a:off x="81534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唤醒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ADB9F2-F052-4EF1-BC5B-6AE51249329C}"/>
              </a:ext>
            </a:extLst>
          </p:cNvPr>
          <p:cNvSpPr>
            <a:spLocks noGrp="1"/>
          </p:cNvSpPr>
          <p:nvPr/>
        </p:nvSpPr>
        <p:spPr>
          <a:xfrm>
            <a:off x="8772525" y="49149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22B7089-D878-4230-9785-FFAE6AB3AF1D}"/>
              </a:ext>
            </a:extLst>
          </p:cNvPr>
          <p:cNvSpPr>
            <a:spLocks noGrp="1"/>
          </p:cNvSpPr>
          <p:nvPr/>
        </p:nvSpPr>
        <p:spPr>
          <a:xfrm>
            <a:off x="89344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C227D6A-C22E-4690-89B2-04BF0736A42B}"/>
              </a:ext>
            </a:extLst>
          </p:cNvPr>
          <p:cNvSpPr>
            <a:spLocks noGrp="1"/>
          </p:cNvSpPr>
          <p:nvPr/>
        </p:nvSpPr>
        <p:spPr>
          <a:xfrm>
            <a:off x="90678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安全点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5494135-5999-4436-9F40-8D8AA66116C0}"/>
              </a:ext>
            </a:extLst>
          </p:cNvPr>
          <p:cNvSpPr>
            <a:spLocks noGrp="1"/>
          </p:cNvSpPr>
          <p:nvPr/>
        </p:nvSpPr>
        <p:spPr>
          <a:xfrm>
            <a:off x="9686925" y="49149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15B1B7F-97A2-4A9C-BBA3-0591F3881ECF}"/>
              </a:ext>
            </a:extLst>
          </p:cNvPr>
          <p:cNvSpPr>
            <a:spLocks noGrp="1"/>
          </p:cNvSpPr>
          <p:nvPr/>
        </p:nvSpPr>
        <p:spPr>
          <a:xfrm>
            <a:off x="98488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DF0DD3-49B2-47DB-B2D4-35503F9AD53F}"/>
              </a:ext>
            </a:extLst>
          </p:cNvPr>
          <p:cNvSpPr>
            <a:spLocks noGrp="1"/>
          </p:cNvSpPr>
          <p:nvPr/>
        </p:nvSpPr>
        <p:spPr>
          <a:xfrm>
            <a:off x="99822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释放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318FDD-991C-4B12-B0B0-BCC048656912}"/>
              </a:ext>
            </a:extLst>
          </p:cNvPr>
          <p:cNvSpPr>
            <a:spLocks noGrp="1"/>
          </p:cNvSpPr>
          <p:nvPr/>
        </p:nvSpPr>
        <p:spPr>
          <a:xfrm>
            <a:off x="10601325" y="49149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A697795-2181-4515-A2B3-A23FDEFDE4FA}"/>
              </a:ext>
            </a:extLst>
          </p:cNvPr>
          <p:cNvSpPr>
            <a:spLocks noGrp="1"/>
          </p:cNvSpPr>
          <p:nvPr/>
        </p:nvSpPr>
        <p:spPr>
          <a:xfrm>
            <a:off x="10763250" y="4667250"/>
            <a:ext cx="742950" cy="723900"/>
          </a:xfrm>
          <a:prstGeom prst="roundRect">
            <a:avLst>
              <a:gd name="adj" fmla="val 10526"/>
            </a:avLst>
          </a:prstGeom>
          <a:solidFill>
            <a:srgbClr val="172033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49247E-D24D-4970-B26E-7071BAE09A26}"/>
              </a:ext>
            </a:extLst>
          </p:cNvPr>
          <p:cNvSpPr>
            <a:spLocks noGrp="1"/>
          </p:cNvSpPr>
          <p:nvPr/>
        </p:nvSpPr>
        <p:spPr>
          <a:xfrm>
            <a:off x="10896600" y="4838700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完成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C69ED33-9911-4C79-8C83-B20BD1EFD663}"/>
              </a:ext>
            </a:extLst>
          </p:cNvPr>
          <p:cNvSpPr>
            <a:spLocks noGrp="1"/>
          </p:cNvSpPr>
          <p:nvPr/>
        </p:nvSpPr>
        <p:spPr>
          <a:xfrm>
            <a:off x="6191250" y="5657850"/>
            <a:ext cx="514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为什么要这样做：目标 CPU 可能仍在使用自己的 trapframe、curenv 和页目录；外核直接释放会产生 use-after-free。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E7E3E42-D6B8-43D4-A806-B5D4AEBCE22C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kern/env.c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9FDF857-0633-4CFF-A7EA-2B7F8BA2340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2636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B554955C-5496-4E9E-9B0C-07E577FA6596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AA244B-216A-47B6-84DA-31DCFED27406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Debug 关键点：为什么不在 IPI handler 里 free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C09E2100-D080-4209-ABF9-F6AE76E484FE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4762500" cy="40005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2BADF5-686D-42E1-ABF7-8FA4E546FFED}"/>
              </a:ext>
            </a:extLst>
          </p:cNvPr>
          <p:cNvSpPr>
            <a:spLocks noGrp="1"/>
          </p:cNvSpPr>
          <p:nvPr/>
        </p:nvSpPr>
        <p:spPr>
          <a:xfrm>
            <a:off x="990600" y="16764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错误方向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438CE7E-7EEB-478C-B3EC-2225C2BA58B2}"/>
              </a:ext>
            </a:extLst>
          </p:cNvPr>
          <p:cNvSpPr>
            <a:spLocks noGrp="1"/>
          </p:cNvSpPr>
          <p:nvPr/>
        </p:nvSpPr>
        <p:spPr>
          <a:xfrm>
            <a:off x="99060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A7C6F3D-630D-417E-9730-E18C38CB781D}"/>
              </a:ext>
            </a:extLst>
          </p:cNvPr>
          <p:cNvSpPr>
            <a:spLocks noGrp="1"/>
          </p:cNvSpPr>
          <p:nvPr/>
        </p:nvSpPr>
        <p:spPr>
          <a:xfrm>
            <a:off x="112395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IPI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719547-4627-487F-9145-31B438C7C580}"/>
              </a:ext>
            </a:extLst>
          </p:cNvPr>
          <p:cNvSpPr>
            <a:spLocks noGrp="1"/>
          </p:cNvSpPr>
          <p:nvPr/>
        </p:nvSpPr>
        <p:spPr>
          <a:xfrm>
            <a:off x="168592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D914508D-6A3D-431E-BD19-13830B3D5FC5}"/>
              </a:ext>
            </a:extLst>
          </p:cNvPr>
          <p:cNvSpPr>
            <a:spLocks noGrp="1"/>
          </p:cNvSpPr>
          <p:nvPr/>
        </p:nvSpPr>
        <p:spPr>
          <a:xfrm>
            <a:off x="184785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EA3E55-831C-4C1E-B46A-D55E18BE9651}"/>
              </a:ext>
            </a:extLst>
          </p:cNvPr>
          <p:cNvSpPr>
            <a:spLocks noGrp="1"/>
          </p:cNvSpPr>
          <p:nvPr/>
        </p:nvSpPr>
        <p:spPr>
          <a:xfrm>
            <a:off x="19812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释放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A116158-21F0-4C06-945E-0C8FA706893B}"/>
              </a:ext>
            </a:extLst>
          </p:cNvPr>
          <p:cNvSpPr>
            <a:spLocks noGrp="1"/>
          </p:cNvSpPr>
          <p:nvPr/>
        </p:nvSpPr>
        <p:spPr>
          <a:xfrm>
            <a:off x="254317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5FBDEA2-9E81-4271-8D96-C18B57626CE1}"/>
              </a:ext>
            </a:extLst>
          </p:cNvPr>
          <p:cNvSpPr>
            <a:spLocks noGrp="1"/>
          </p:cNvSpPr>
          <p:nvPr/>
        </p:nvSpPr>
        <p:spPr>
          <a:xfrm>
            <a:off x="270510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4D4942-E202-4EBA-9F9D-09B509B60495}"/>
              </a:ext>
            </a:extLst>
          </p:cNvPr>
          <p:cNvSpPr>
            <a:spLocks noGrp="1"/>
          </p:cNvSpPr>
          <p:nvPr/>
        </p:nvSpPr>
        <p:spPr>
          <a:xfrm>
            <a:off x="283845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页表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DCF013-30F7-4434-AECE-2617000426C0}"/>
              </a:ext>
            </a:extLst>
          </p:cNvPr>
          <p:cNvSpPr>
            <a:spLocks noGrp="1"/>
          </p:cNvSpPr>
          <p:nvPr/>
        </p:nvSpPr>
        <p:spPr>
          <a:xfrm>
            <a:off x="340042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108C01B-9E2C-465F-905A-5AB8A239EAAD}"/>
              </a:ext>
            </a:extLst>
          </p:cNvPr>
          <p:cNvSpPr>
            <a:spLocks noGrp="1"/>
          </p:cNvSpPr>
          <p:nvPr/>
        </p:nvSpPr>
        <p:spPr>
          <a:xfrm>
            <a:off x="356235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0795A0C-0CA6-4E86-A9D8-65D9EF983904}"/>
              </a:ext>
            </a:extLst>
          </p:cNvPr>
          <p:cNvSpPr>
            <a:spLocks noGrp="1"/>
          </p:cNvSpPr>
          <p:nvPr/>
        </p:nvSpPr>
        <p:spPr>
          <a:xfrm>
            <a:off x="36957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失效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C5136B-90F5-40B0-8B76-542A43C8A14D}"/>
              </a:ext>
            </a:extLst>
          </p:cNvPr>
          <p:cNvSpPr>
            <a:spLocks noGrp="1"/>
          </p:cNvSpPr>
          <p:nvPr/>
        </p:nvSpPr>
        <p:spPr>
          <a:xfrm>
            <a:off x="425767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79162159-4BF8-41F9-995C-61C35AA672C4}"/>
              </a:ext>
            </a:extLst>
          </p:cNvPr>
          <p:cNvSpPr>
            <a:spLocks noGrp="1"/>
          </p:cNvSpPr>
          <p:nvPr/>
        </p:nvSpPr>
        <p:spPr>
          <a:xfrm>
            <a:off x="441960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FB7185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A67AA84-AD62-4B25-8501-B429A2795565}"/>
              </a:ext>
            </a:extLst>
          </p:cNvPr>
          <p:cNvSpPr>
            <a:spLocks noGrp="1"/>
          </p:cNvSpPr>
          <p:nvPr/>
        </p:nvSpPr>
        <p:spPr>
          <a:xfrm>
            <a:off x="455295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IPI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4865713-1B7C-4F66-97A7-F59024B499D0}"/>
              </a:ext>
            </a:extLst>
          </p:cNvPr>
          <p:cNvSpPr>
            <a:spLocks noGrp="1"/>
          </p:cNvSpPr>
          <p:nvPr/>
        </p:nvSpPr>
        <p:spPr>
          <a:xfrm>
            <a:off x="1047750" y="34671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080734-C62C-4253-8F91-D7B16FBBE786}"/>
              </a:ext>
            </a:extLst>
          </p:cNvPr>
          <p:cNvSpPr>
            <a:spLocks noGrp="1"/>
          </p:cNvSpPr>
          <p:nvPr/>
        </p:nvSpPr>
        <p:spPr>
          <a:xfrm>
            <a:off x="1352550" y="34575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env_free 会释放页表并触发 TLB shootdown。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7AB8DFC-16D2-415C-89D6-022326A4337F}"/>
              </a:ext>
            </a:extLst>
          </p:cNvPr>
          <p:cNvSpPr>
            <a:spLocks noGrp="1"/>
          </p:cNvSpPr>
          <p:nvPr/>
        </p:nvSpPr>
        <p:spPr>
          <a:xfrm>
            <a:off x="1047750" y="39624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38325E9-8E48-4F5B-B78A-99AD520ADF69}"/>
              </a:ext>
            </a:extLst>
          </p:cNvPr>
          <p:cNvSpPr>
            <a:spLocks noGrp="1"/>
          </p:cNvSpPr>
          <p:nvPr/>
        </p:nvSpPr>
        <p:spPr>
          <a:xfrm>
            <a:off x="1352550" y="39528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TLB shootdown 也依赖 smp_group_function_call。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5B30888-636C-48DA-BDCE-2DD7405B5CDF}"/>
              </a:ext>
            </a:extLst>
          </p:cNvPr>
          <p:cNvSpPr>
            <a:spLocks noGrp="1"/>
          </p:cNvSpPr>
          <p:nvPr/>
        </p:nvSpPr>
        <p:spPr>
          <a:xfrm>
            <a:off x="1047750" y="44577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B718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B718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2CAA2D-B3E2-4A9E-AE8A-12C304902CAC}"/>
              </a:ext>
            </a:extLst>
          </p:cNvPr>
          <p:cNvSpPr>
            <a:spLocks noGrp="1"/>
          </p:cNvSpPr>
          <p:nvPr/>
        </p:nvSpPr>
        <p:spPr>
          <a:xfrm>
            <a:off x="1352550" y="44481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在 IPI handler 内嵌套 IPI 协议，单个 ipi_done 状态容易被覆盖或形成死锁。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D0F0B1B-8351-44A0-B96A-3D3FBE5D9542}"/>
              </a:ext>
            </a:extLst>
          </p:cNvPr>
          <p:cNvSpPr>
            <a:spLocks noGrp="1"/>
          </p:cNvSpPr>
          <p:nvPr/>
        </p:nvSpPr>
        <p:spPr>
          <a:xfrm>
            <a:off x="6191250" y="1409700"/>
            <a:ext cx="4762500" cy="400050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171D558-DD3C-4D1F-8DB9-2DE890E6F6E8}"/>
              </a:ext>
            </a:extLst>
          </p:cNvPr>
          <p:cNvSpPr>
            <a:spLocks noGrp="1"/>
          </p:cNvSpPr>
          <p:nvPr/>
        </p:nvSpPr>
        <p:spPr>
          <a:xfrm>
            <a:off x="6496050" y="1676400"/>
            <a:ext cx="171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最终方案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FDE644C-F502-4048-909C-9150E22BB02A}"/>
              </a:ext>
            </a:extLst>
          </p:cNvPr>
          <p:cNvSpPr>
            <a:spLocks noGrp="1"/>
          </p:cNvSpPr>
          <p:nvPr/>
        </p:nvSpPr>
        <p:spPr>
          <a:xfrm>
            <a:off x="649605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28A6A9E-704F-4996-9B3A-DB473ADD518D}"/>
              </a:ext>
            </a:extLst>
          </p:cNvPr>
          <p:cNvSpPr>
            <a:spLocks noGrp="1"/>
          </p:cNvSpPr>
          <p:nvPr/>
        </p:nvSpPr>
        <p:spPr>
          <a:xfrm>
            <a:off x="66294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唤醒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EFA0947-125E-426C-90AA-EEF00504735D}"/>
              </a:ext>
            </a:extLst>
          </p:cNvPr>
          <p:cNvSpPr>
            <a:spLocks noGrp="1"/>
          </p:cNvSpPr>
          <p:nvPr/>
        </p:nvSpPr>
        <p:spPr>
          <a:xfrm>
            <a:off x="719137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D901156-12B3-490D-888F-47912E9FCA97}"/>
              </a:ext>
            </a:extLst>
          </p:cNvPr>
          <p:cNvSpPr>
            <a:spLocks noGrp="1"/>
          </p:cNvSpPr>
          <p:nvPr/>
        </p:nvSpPr>
        <p:spPr>
          <a:xfrm>
            <a:off x="735330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F91CC6C-A3AC-408A-A033-A302C455F9B8}"/>
              </a:ext>
            </a:extLst>
          </p:cNvPr>
          <p:cNvSpPr>
            <a:spLocks noGrp="1"/>
          </p:cNvSpPr>
          <p:nvPr/>
        </p:nvSpPr>
        <p:spPr>
          <a:xfrm>
            <a:off x="748665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确认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B79B621-8C14-4B34-A3A8-FC662E986769}"/>
              </a:ext>
            </a:extLst>
          </p:cNvPr>
          <p:cNvSpPr>
            <a:spLocks noGrp="1"/>
          </p:cNvSpPr>
          <p:nvPr/>
        </p:nvSpPr>
        <p:spPr>
          <a:xfrm>
            <a:off x="804862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0DF2CE1C-608F-4266-A6A7-0AAE065B059E}"/>
              </a:ext>
            </a:extLst>
          </p:cNvPr>
          <p:cNvSpPr>
            <a:spLocks noGrp="1"/>
          </p:cNvSpPr>
          <p:nvPr/>
        </p:nvSpPr>
        <p:spPr>
          <a:xfrm>
            <a:off x="821055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94A919D-85A1-4C35-A987-73B49F281B99}"/>
              </a:ext>
            </a:extLst>
          </p:cNvPr>
          <p:cNvSpPr>
            <a:spLocks noGrp="1"/>
          </p:cNvSpPr>
          <p:nvPr/>
        </p:nvSpPr>
        <p:spPr>
          <a:xfrm>
            <a:off x="83439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调度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EED184-B3A1-4F20-80E9-E5C852F27179}"/>
              </a:ext>
            </a:extLst>
          </p:cNvPr>
          <p:cNvSpPr>
            <a:spLocks noGrp="1"/>
          </p:cNvSpPr>
          <p:nvPr/>
        </p:nvSpPr>
        <p:spPr>
          <a:xfrm>
            <a:off x="890587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25E97F23-87FD-417E-8CD7-A6F7C4CD533C}"/>
              </a:ext>
            </a:extLst>
          </p:cNvPr>
          <p:cNvSpPr>
            <a:spLocks noGrp="1"/>
          </p:cNvSpPr>
          <p:nvPr/>
        </p:nvSpPr>
        <p:spPr>
          <a:xfrm>
            <a:off x="906780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D8CAB6F-6536-406C-8CD8-E6F0D0895F39}"/>
              </a:ext>
            </a:extLst>
          </p:cNvPr>
          <p:cNvSpPr>
            <a:spLocks noGrp="1"/>
          </p:cNvSpPr>
          <p:nvPr/>
        </p:nvSpPr>
        <p:spPr>
          <a:xfrm>
            <a:off x="920115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检查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25A478-F55C-4F76-8CB0-B393E14116A6}"/>
              </a:ext>
            </a:extLst>
          </p:cNvPr>
          <p:cNvSpPr>
            <a:spLocks noGrp="1"/>
          </p:cNvSpPr>
          <p:nvPr/>
        </p:nvSpPr>
        <p:spPr>
          <a:xfrm>
            <a:off x="9763125" y="2505075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16C98033-9925-4AC1-B602-2BF54C94A627}"/>
              </a:ext>
            </a:extLst>
          </p:cNvPr>
          <p:cNvSpPr>
            <a:spLocks noGrp="1"/>
          </p:cNvSpPr>
          <p:nvPr/>
        </p:nvSpPr>
        <p:spPr>
          <a:xfrm>
            <a:off x="9925050" y="2305050"/>
            <a:ext cx="685800" cy="628650"/>
          </a:xfrm>
          <a:prstGeom prst="roundRect">
            <a:avLst>
              <a:gd name="adj" fmla="val 12121"/>
            </a:avLst>
          </a:prstGeom>
          <a:solidFill>
            <a:srgbClr val="172033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DD852BE-E8DF-416A-8E78-2A9B511E90C8}"/>
              </a:ext>
            </a:extLst>
          </p:cNvPr>
          <p:cNvSpPr>
            <a:spLocks noGrp="1"/>
          </p:cNvSpPr>
          <p:nvPr/>
        </p:nvSpPr>
        <p:spPr>
          <a:xfrm>
            <a:off x="10058400" y="2476500"/>
            <a:ext cx="4191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释放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8EBB595-B081-49D0-B4FE-6B4B2C9628A0}"/>
              </a:ext>
            </a:extLst>
          </p:cNvPr>
          <p:cNvSpPr>
            <a:spLocks noGrp="1"/>
          </p:cNvSpPr>
          <p:nvPr/>
        </p:nvSpPr>
        <p:spPr>
          <a:xfrm>
            <a:off x="6553200" y="34671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31FC0BC-EB33-4098-9D01-87527A2AEAB8}"/>
              </a:ext>
            </a:extLst>
          </p:cNvPr>
          <p:cNvSpPr>
            <a:spLocks noGrp="1"/>
          </p:cNvSpPr>
          <p:nvPr/>
        </p:nvSpPr>
        <p:spPr>
          <a:xfrm>
            <a:off x="6858000" y="34575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IPI handler 保持轻量：执行 mailbox 函数并 ack。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EE764DB-B003-4003-834D-A265120AC38F}"/>
              </a:ext>
            </a:extLst>
          </p:cNvPr>
          <p:cNvSpPr>
            <a:spLocks noGrp="1"/>
          </p:cNvSpPr>
          <p:nvPr/>
        </p:nvSpPr>
        <p:spPr>
          <a:xfrm>
            <a:off x="6553200" y="39624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196A4E6-591E-4F4D-AB08-F32FB1E1B056}"/>
              </a:ext>
            </a:extLst>
          </p:cNvPr>
          <p:cNvSpPr>
            <a:spLocks noGrp="1"/>
          </p:cNvSpPr>
          <p:nvPr/>
        </p:nvSpPr>
        <p:spPr>
          <a:xfrm>
            <a:off x="6858000" y="39528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复杂释放放到调度安全点，避免协议嵌套。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E15F9F-F789-4FE7-9965-0F7B900D5DDA}"/>
              </a:ext>
            </a:extLst>
          </p:cNvPr>
          <p:cNvSpPr>
            <a:spLocks noGrp="1"/>
          </p:cNvSpPr>
          <p:nvPr/>
        </p:nvSpPr>
        <p:spPr>
          <a:xfrm>
            <a:off x="6553200" y="4457700"/>
            <a:ext cx="2476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14B7A9F-FE07-4AB1-94C3-AA4046A3FDF1}"/>
              </a:ext>
            </a:extLst>
          </p:cNvPr>
          <p:cNvSpPr>
            <a:spLocks noGrp="1"/>
          </p:cNvSpPr>
          <p:nvPr/>
        </p:nvSpPr>
        <p:spPr>
          <a:xfrm>
            <a:off x="6858000" y="4448175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等待远端销毁时临时关本地中断，避免 timer reentry；循环中仍处理 IPI。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3B1FAE17-0CF5-45DA-90A4-EE7E31EE9605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267950" cy="514350"/>
          </a:xfrm>
          <a:prstGeom prst="roundRect">
            <a:avLst>
              <a:gd name="adj" fmla="val 14815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840D126-9AC3-40D0-A09B-D503621DED71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47625" cy="5143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D81A3E5-D67B-41A3-8F25-130B5D28BC7E}"/>
              </a:ext>
            </a:extLst>
          </p:cNvPr>
          <p:cNvSpPr>
            <a:spLocks noGrp="1"/>
          </p:cNvSpPr>
          <p:nvPr/>
        </p:nvSpPr>
        <p:spPr>
          <a:xfrm>
            <a:off x="914400" y="5829300"/>
            <a:ext cx="9867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可讲的 debug 结论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0AB0964A-DE79-4B76-9FCF-9D02838BB22D}"/>
              </a:ext>
            </a:extLst>
          </p:cNvPr>
          <p:cNvSpPr>
            <a:spLocks noGrp="1"/>
          </p:cNvSpPr>
          <p:nvPr/>
        </p:nvSpPr>
        <p:spPr>
          <a:xfrm>
            <a:off x="914400" y="6191250"/>
            <a:ext cx="9867900" cy="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这次 bug 的本质不是“free 本身错”，而是 free 触发了需要跨 CPU 协作的子协议，不能放在另一个 IPI 协议的 handler 里做。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ADA57133-0B88-4F5A-A864-0C5289D1BBEE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SMP_DESIGN_AND_TEST_SUMMARY.md + project code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A0E1E16-FD38-4F9C-AEE2-BDC5A58A653B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65752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4003DFFE-EDB3-45E8-998C-3815578EBB13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126E758-E702-405C-B428-1184E09BC7E6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测试：主动制造并发窗口，而不是只看跑完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0C5934C1-6D55-4EAD-9809-DCD4E46DCCCE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10820400" cy="552450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27943E0-B41A-4AF8-90E2-DDD84A7CCC9D}"/>
              </a:ext>
            </a:extLst>
          </p:cNvPr>
          <p:cNvSpPr>
            <a:spLocks noGrp="1"/>
          </p:cNvSpPr>
          <p:nvPr/>
        </p:nvSpPr>
        <p:spPr>
          <a:xfrm>
            <a:off x="914400" y="14668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lab6_3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4744CE-C59F-4CB5-A9EF-EEC206176A79}"/>
              </a:ext>
            </a:extLst>
          </p:cNvPr>
          <p:cNvSpPr>
            <a:spLocks noGrp="1"/>
          </p:cNvSpPr>
          <p:nvPr/>
        </p:nvSpPr>
        <p:spPr>
          <a:xfrm>
            <a:off x="2019300" y="14668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IPI 双向嵌套 roundtrip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29847D-ECFE-4A1D-9281-D0333D3A5317}"/>
              </a:ext>
            </a:extLst>
          </p:cNvPr>
          <p:cNvSpPr>
            <a:spLocks noGrp="1"/>
          </p:cNvSpPr>
          <p:nvPr/>
        </p:nvSpPr>
        <p:spPr>
          <a:xfrm>
            <a:off x="5105400" y="14478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128 次 CPU0-&gt;CPU1；CPU1 handler 内反向调用 CPU0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85060A80-9884-45C5-8620-2571C509E601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0820400" cy="552450"/>
          </a:xfrm>
          <a:prstGeom prst="roundRect">
            <a:avLst>
              <a:gd name="adj" fmla="val 10345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1A4BE3B-B567-413A-8E2A-A8BD368409CD}"/>
              </a:ext>
            </a:extLst>
          </p:cNvPr>
          <p:cNvSpPr>
            <a:spLocks noGrp="1"/>
          </p:cNvSpPr>
          <p:nvPr/>
        </p:nvSpPr>
        <p:spPr>
          <a:xfrm>
            <a:off x="914400" y="21907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lab6_4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B12959-FB29-4FC6-9D8D-411B6B14E1B2}"/>
              </a:ext>
            </a:extLst>
          </p:cNvPr>
          <p:cNvSpPr>
            <a:spLocks noGrp="1"/>
          </p:cNvSpPr>
          <p:nvPr/>
        </p:nvSpPr>
        <p:spPr>
          <a:xfrm>
            <a:off x="2019300" y="21907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多核并行调度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2803147-5CD6-4D94-B879-42E028F598DE}"/>
              </a:ext>
            </a:extLst>
          </p:cNvPr>
          <p:cNvSpPr>
            <a:spLocks noGrp="1"/>
          </p:cNvSpPr>
          <p:nvPr/>
        </p:nvSpPr>
        <p:spPr>
          <a:xfrm>
            <a:off x="5105400" y="21717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4 个 loop env；pre_env_run 断言 owner 与 CPU 一致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97D414F-951D-4584-8786-ADE0A199CDE2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0820400" cy="552450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B2E1F2-45C0-4414-973E-4EA13F6EC830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lab6_5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A886AC6-06D3-4875-B080-9844EF2B0F2C}"/>
              </a:ext>
            </a:extLst>
          </p:cNvPr>
          <p:cNvSpPr>
            <a:spLocks noGrp="1"/>
          </p:cNvSpPr>
          <p:nvPr/>
        </p:nvSpPr>
        <p:spPr>
          <a:xfrm>
            <a:off x="2019300" y="29146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单次远端 destroy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1BD52F-4AB4-41AA-B075-264C542227AB}"/>
              </a:ext>
            </a:extLst>
          </p:cNvPr>
          <p:cNvSpPr>
            <a:spLocks noGrp="1"/>
          </p:cNvSpPr>
          <p:nvPr/>
        </p:nvSpPr>
        <p:spPr>
          <a:xfrm>
            <a:off x="5105400" y="28956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父进程等待 child 在远端 CPU 运行后 destroy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5B2EB30A-FE24-447F-A3F2-3F98B2289E80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10820400" cy="552450"/>
          </a:xfrm>
          <a:prstGeom prst="roundRect">
            <a:avLst>
              <a:gd name="adj" fmla="val 10345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9DAB73-A3F9-4579-A3F0-35FF97E071F9}"/>
              </a:ext>
            </a:extLst>
          </p:cNvPr>
          <p:cNvSpPr>
            <a:spLocks noGrp="1"/>
          </p:cNvSpPr>
          <p:nvPr/>
        </p:nvSpPr>
        <p:spPr>
          <a:xfrm>
            <a:off x="914400" y="36385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lab6_6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5C5462C-A9E0-4702-B35A-487CC682F2F7}"/>
              </a:ext>
            </a:extLst>
          </p:cNvPr>
          <p:cNvSpPr>
            <a:spLocks noGrp="1"/>
          </p:cNvSpPr>
          <p:nvPr/>
        </p:nvSpPr>
        <p:spPr>
          <a:xfrm>
            <a:off x="2019300" y="36385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多轮 destroy + slot 复用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3E3CBC6-570E-42EB-BEF2-752D3FFCF548}"/>
              </a:ext>
            </a:extLst>
          </p:cNvPr>
          <p:cNvSpPr>
            <a:spLocks noGrp="1"/>
          </p:cNvSpPr>
          <p:nvPr/>
        </p:nvSpPr>
        <p:spPr>
          <a:xfrm>
            <a:off x="5105400" y="36195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重复 4 轮，检查旧 env_kill_done 不误判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ADEFB51-4683-4B91-BADD-7C8EC00224B5}"/>
              </a:ext>
            </a:extLst>
          </p:cNvPr>
          <p:cNvSpPr>
            <a:spLocks noGrp="1"/>
          </p:cNvSpPr>
          <p:nvPr/>
        </p:nvSpPr>
        <p:spPr>
          <a:xfrm>
            <a:off x="685800" y="4229100"/>
            <a:ext cx="10820400" cy="552450"/>
          </a:xfrm>
          <a:prstGeom prst="roundRect">
            <a:avLst>
              <a:gd name="adj" fmla="val 10345"/>
            </a:avLst>
          </a:prstGeom>
          <a:solidFill>
            <a:srgbClr val="0F172A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F3FC151-C28F-41B5-BF49-0D0E600C4F7C}"/>
              </a:ext>
            </a:extLst>
          </p:cNvPr>
          <p:cNvSpPr>
            <a:spLocks noGrp="1"/>
          </p:cNvSpPr>
          <p:nvPr/>
        </p:nvSpPr>
        <p:spPr>
          <a:xfrm>
            <a:off x="914400" y="4362450"/>
            <a:ext cx="876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22D3EE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22D3EE"/>
                </a:solidFill>
                <a:latin typeface="Consolas"/>
                <a:ea typeface="Consolas"/>
                <a:cs typeface="Consolas"/>
              </a:rPr>
              <a:t>lab6_7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E0AD48-1EB1-4E11-80C4-BBC8989C188F}"/>
              </a:ext>
            </a:extLst>
          </p:cNvPr>
          <p:cNvSpPr>
            <a:spLocks noGrp="1"/>
          </p:cNvSpPr>
          <p:nvPr/>
        </p:nvSpPr>
        <p:spPr>
          <a:xfrm>
            <a:off x="2019300" y="4362450"/>
            <a:ext cx="266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双向远端 destroy 竞态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823703D-D093-49F7-B990-629D5AE6D8DC}"/>
              </a:ext>
            </a:extLst>
          </p:cNvPr>
          <p:cNvSpPr>
            <a:spLocks noGrp="1"/>
          </p:cNvSpPr>
          <p:nvPr/>
        </p:nvSpPr>
        <p:spPr>
          <a:xfrm>
            <a:off x="5105400" y="4343400"/>
            <a:ext cx="581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CPU0/CPU1 同时尝试销毁对方正在运行的 env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D799BF7-B08B-4FA4-BE23-9F421A77C877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5095875" cy="876300"/>
          </a:xfrm>
          <a:prstGeom prst="roundRect">
            <a:avLst>
              <a:gd name="adj" fmla="val 8696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ADFE517-F3F1-491A-AD03-904AED63BC98}"/>
              </a:ext>
            </a:extLst>
          </p:cNvPr>
          <p:cNvSpPr>
            <a:spLocks noGrp="1"/>
          </p:cNvSpPr>
          <p:nvPr/>
        </p:nvSpPr>
        <p:spPr>
          <a:xfrm>
            <a:off x="685800" y="5200650"/>
            <a:ext cx="5095875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53C00B5-7051-449D-A2F3-077A966D465F}"/>
              </a:ext>
            </a:extLst>
          </p:cNvPr>
          <p:cNvSpPr>
            <a:spLocks noGrp="1"/>
          </p:cNvSpPr>
          <p:nvPr/>
        </p:nvSpPr>
        <p:spPr>
          <a:xfrm>
            <a:off x="838200" y="5257800"/>
            <a:ext cx="4791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tests/lab6_3/init.c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2DC4933-3B17-447B-9C4B-85EA7FF73F37}"/>
              </a:ext>
            </a:extLst>
          </p:cNvPr>
          <p:cNvSpPr>
            <a:spLocks noGrp="1"/>
          </p:cNvSpPr>
          <p:nvPr/>
        </p:nvSpPr>
        <p:spPr>
          <a:xfrm>
            <a:off x="838200" y="5600700"/>
            <a:ext cx="47910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smp_ipi_roundtrip passed: cpu1_calls=128 cpu0_callbacks=128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54D5D80-8AAC-4F5D-A6E3-F6F78D959338}"/>
              </a:ext>
            </a:extLst>
          </p:cNvPr>
          <p:cNvSpPr>
            <a:spLocks noGrp="1"/>
          </p:cNvSpPr>
          <p:nvPr/>
        </p:nvSpPr>
        <p:spPr>
          <a:xfrm>
            <a:off x="6057900" y="5200650"/>
            <a:ext cx="5448300" cy="876300"/>
          </a:xfrm>
          <a:prstGeom prst="roundRect">
            <a:avLst>
              <a:gd name="adj" fmla="val 8696"/>
            </a:avLst>
          </a:prstGeom>
          <a:solidFill>
            <a:srgbClr val="0A0F1D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846BF64-1FBD-4521-A6E5-78AFE0E9519C}"/>
              </a:ext>
            </a:extLst>
          </p:cNvPr>
          <p:cNvSpPr>
            <a:spLocks noGrp="1"/>
          </p:cNvSpPr>
          <p:nvPr/>
        </p:nvSpPr>
        <p:spPr>
          <a:xfrm>
            <a:off x="6057900" y="5200650"/>
            <a:ext cx="5448300" cy="266700"/>
          </a:xfrm>
          <a:prstGeom prst="rect">
            <a:avLst/>
          </a:prstGeom>
          <a:solidFill>
            <a:srgbClr val="1E293B"/>
          </a:solidFill>
          <a:ln w="0">
            <a:solidFill>
              <a:srgbClr val="1E293B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C3ED3E-0354-4DCE-8F72-450B6C0069C3}"/>
              </a:ext>
            </a:extLst>
          </p:cNvPr>
          <p:cNvSpPr>
            <a:spLocks noGrp="1"/>
          </p:cNvSpPr>
          <p:nvPr/>
        </p:nvSpPr>
        <p:spPr>
          <a:xfrm>
            <a:off x="6210300" y="5257800"/>
            <a:ext cx="5143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A3E635"/>
                </a:solidFill>
                <a:latin typeface="Consolas"/>
                <a:ea typeface="Consolas"/>
                <a:cs typeface="Consolas"/>
              </a:defRPr>
            </a:pPr>
            <a:r>
              <a:rPr sz="825" b="1">
                <a:solidFill>
                  <a:srgbClr val="A3E635"/>
                </a:solidFill>
                <a:latin typeface="Consolas"/>
                <a:ea typeface="Consolas"/>
                <a:cs typeface="Consolas"/>
              </a:rPr>
              <a:t>tests/lab6_7/pre_env_run.c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3FAA842-2614-44DD-B88E-C2F69D82C518}"/>
              </a:ext>
            </a:extLst>
          </p:cNvPr>
          <p:cNvSpPr>
            <a:spLocks noGrp="1"/>
          </p:cNvSpPr>
          <p:nvPr/>
        </p:nvSpPr>
        <p:spPr>
          <a:xfrm>
            <a:off x="6210300" y="5600700"/>
            <a:ext cx="5143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>
                <a:solidFill>
                  <a:srgbClr val="DDE7F3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DDE7F3"/>
                </a:solidFill>
                <a:latin typeface="Consolas"/>
                <a:ea typeface="Consolas"/>
                <a:cs typeface="Consolas"/>
              </a:rPr>
              <a:t>remote_destroy_bidirectional passed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3C2A7AA-34D2-4E51-A0D8-0804FCEE199B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Code: tests/lab6_3 ... tests/lab6_7, VALIDATION.md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C4911B7-2AFA-458B-9D50-5BEFE9671D6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323444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84BE29AC-7454-4431-84B5-DD30BF0CD9F7}"/>
              </a:ext>
            </a:extLst>
          </p:cNvPr>
          <p:cNvSpPr>
            <a:spLocks noGrp="1"/>
          </p:cNvSpPr>
          <p:nvPr/>
        </p:nvSpPr>
        <p:spPr>
          <a:xfrm>
            <a:off x="685800" y="323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MIPS MOS SMP CHALLENGE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E938747-CACB-4AEE-B921-3B6B3FC32A6A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9906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限制与答辩高频问题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27063A8-B1A4-4C70-ADAF-EBAF0E77862F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074694F-AEC6-437B-9B1C-20ECE4A4EDF1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47625" cy="1047750"/>
          </a:xfrm>
          <a:prstGeom prst="rect">
            <a:avLst/>
          </a:prstGeom>
          <a:solidFill>
            <a:srgbClr val="22D3EE"/>
          </a:solidFill>
          <a:ln w="0">
            <a:solidFill>
              <a:srgbClr val="22D3EE"/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6F2097-BD8C-4A0E-A6ED-D2F59579C4FD}"/>
              </a:ext>
            </a:extLst>
          </p:cNvPr>
          <p:cNvSpPr>
            <a:spLocks noGrp="1"/>
          </p:cNvSpPr>
          <p:nvPr/>
        </p:nvSpPr>
        <p:spPr>
          <a:xfrm>
            <a:off x="914400" y="148590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为什么不用全局 curenv？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86D7109-2AC5-4351-AA4D-A85D8F47D83E}"/>
              </a:ext>
            </a:extLst>
          </p:cNvPr>
          <p:cNvSpPr>
            <a:spLocks noGrp="1"/>
          </p:cNvSpPr>
          <p:nvPr/>
        </p:nvSpPr>
        <p:spPr>
          <a:xfrm>
            <a:off x="914400" y="184785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两个 CPU 可以同时运行不同 env，全局变量无法表达“当前 CPU 的当前 env”。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AB53246-81CF-4F8C-9F6A-6F162232F396}"/>
              </a:ext>
            </a:extLst>
          </p:cNvPr>
          <p:cNvSpPr>
            <a:spLocks noGrp="1"/>
          </p:cNvSpPr>
          <p:nvPr/>
        </p:nvSpPr>
        <p:spPr>
          <a:xfrm>
            <a:off x="6096000" y="133350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A832BE-F06B-4114-8975-5BFBAA3A7675}"/>
              </a:ext>
            </a:extLst>
          </p:cNvPr>
          <p:cNvSpPr>
            <a:spLocks noGrp="1"/>
          </p:cNvSpPr>
          <p:nvPr/>
        </p:nvSpPr>
        <p:spPr>
          <a:xfrm>
            <a:off x="6096000" y="1333500"/>
            <a:ext cx="47625" cy="1047750"/>
          </a:xfrm>
          <a:prstGeom prst="rect">
            <a:avLst/>
          </a:prstGeom>
          <a:solidFill>
            <a:srgbClr val="A3E635"/>
          </a:solidFill>
          <a:ln w="0">
            <a:solidFill>
              <a:srgbClr val="A3E63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9856A1D-B956-4902-BCE8-68C1E971E6AE}"/>
              </a:ext>
            </a:extLst>
          </p:cNvPr>
          <p:cNvSpPr>
            <a:spLocks noGrp="1"/>
          </p:cNvSpPr>
          <p:nvPr/>
        </p:nvSpPr>
        <p:spPr>
          <a:xfrm>
            <a:off x="6324600" y="148590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为什么要 env_running/env_cpu_id？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6847F49-5520-4F5F-84A2-301864E6EB4C}"/>
              </a:ext>
            </a:extLst>
          </p:cNvPr>
          <p:cNvSpPr>
            <a:spLocks noGrp="1"/>
          </p:cNvSpPr>
          <p:nvPr/>
        </p:nvSpPr>
        <p:spPr>
          <a:xfrm>
            <a:off x="6324600" y="184785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ENV_RUNNABLE 只说明可运行，不说明是否已被另一个 CPU 占用。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51A1F6B-84D0-4EE2-BB8F-E09BCF53CED5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7A2856B-ECCB-481C-A2F8-632833387610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47625" cy="1047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57F2F19-1DF5-414B-ABB1-6C708E7B423B}"/>
              </a:ext>
            </a:extLst>
          </p:cNvPr>
          <p:cNvSpPr>
            <a:spLocks noGrp="1"/>
          </p:cNvSpPr>
          <p:nvPr/>
        </p:nvSpPr>
        <p:spPr>
          <a:xfrm>
            <a:off x="914400" y="291465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为什么 TLB 要广播？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40E6ADD-50BD-4B6E-A9F3-7A3085DDC0F3}"/>
              </a:ext>
            </a:extLst>
          </p:cNvPr>
          <p:cNvSpPr>
            <a:spLocks noGrp="1"/>
          </p:cNvSpPr>
          <p:nvPr/>
        </p:nvSpPr>
        <p:spPr>
          <a:xfrm>
            <a:off x="914400" y="327660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每个 CPU 独立 TLB；页表改动后远端 CPU 可能继续使用旧映射。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1ECD763F-0687-4521-8914-25EABF89A092}"/>
              </a:ext>
            </a:extLst>
          </p:cNvPr>
          <p:cNvSpPr>
            <a:spLocks noGrp="1"/>
          </p:cNvSpPr>
          <p:nvPr/>
        </p:nvSpPr>
        <p:spPr>
          <a:xfrm>
            <a:off x="6096000" y="276225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7E9506-701A-4A6A-A255-836CE74C474E}"/>
              </a:ext>
            </a:extLst>
          </p:cNvPr>
          <p:cNvSpPr>
            <a:spLocks noGrp="1"/>
          </p:cNvSpPr>
          <p:nvPr/>
        </p:nvSpPr>
        <p:spPr>
          <a:xfrm>
            <a:off x="6096000" y="2762250"/>
            <a:ext cx="47625" cy="1047750"/>
          </a:xfrm>
          <a:prstGeom prst="rect">
            <a:avLst/>
          </a:prstGeom>
          <a:solidFill>
            <a:srgbClr val="A78BFA"/>
          </a:solidFill>
          <a:ln w="0">
            <a:solidFill>
              <a:srgbClr val="A78BF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B523EA-34A0-4045-BABE-458B9D53CE8E}"/>
              </a:ext>
            </a:extLst>
          </p:cNvPr>
          <p:cNvSpPr>
            <a:spLocks noGrp="1"/>
          </p:cNvSpPr>
          <p:nvPr/>
        </p:nvSpPr>
        <p:spPr>
          <a:xfrm>
            <a:off x="6324600" y="291465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为什么不在 pmap_lock 内广播？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C8D633-B40A-4920-8DF3-2B8E84754983}"/>
              </a:ext>
            </a:extLst>
          </p:cNvPr>
          <p:cNvSpPr>
            <a:spLocks noGrp="1"/>
          </p:cNvSpPr>
          <p:nvPr/>
        </p:nvSpPr>
        <p:spPr>
          <a:xfrm>
            <a:off x="6324600" y="327660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广播会等待远端 IPI；远端如果也要 pmap_lock，就形成死锁。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B3FFEF9D-BCCD-4524-A47E-CE734829B343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7102D4B-6F43-410E-8029-FB3E0A6A034C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47625" cy="1047750"/>
          </a:xfrm>
          <a:prstGeom prst="rect">
            <a:avLst/>
          </a:prstGeom>
          <a:solidFill>
            <a:srgbClr val="FB7185"/>
          </a:solidFill>
          <a:ln w="0">
            <a:solidFill>
              <a:srgbClr val="FB718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5EA6FD-5420-4E25-9CCD-B70DA14EB64D}"/>
              </a:ext>
            </a:extLst>
          </p:cNvPr>
          <p:cNvSpPr>
            <a:spLocks noGrp="1"/>
          </p:cNvSpPr>
          <p:nvPr/>
        </p:nvSpPr>
        <p:spPr>
          <a:xfrm>
            <a:off x="914400" y="434340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为什么 fs_serv 绑定 CPU0？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78F0E05-FD4D-4041-9B42-A2077EBF74F9}"/>
              </a:ext>
            </a:extLst>
          </p:cNvPr>
          <p:cNvSpPr>
            <a:spLocks noGrp="1"/>
          </p:cNvSpPr>
          <p:nvPr/>
        </p:nvSpPr>
        <p:spPr>
          <a:xfrm>
            <a:off x="914400" y="470535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阶段性保守策略，先稳定调度、IPC、TLB；完整 SMP FS 还需细化锁粒度。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8132C40-DCEC-4993-8156-66FF70416FF6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4895850" cy="1047750"/>
          </a:xfrm>
          <a:prstGeom prst="roundRect">
            <a:avLst>
              <a:gd name="adj" fmla="val 7273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BAB6D18-8883-4ED4-ACDF-2B50092A2F68}"/>
              </a:ext>
            </a:extLst>
          </p:cNvPr>
          <p:cNvSpPr>
            <a:spLocks noGrp="1"/>
          </p:cNvSpPr>
          <p:nvPr/>
        </p:nvSpPr>
        <p:spPr>
          <a:xfrm>
            <a:off x="6096000" y="4191000"/>
            <a:ext cx="47625" cy="1047750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F20EDE-53C8-4181-8170-3E903049303B}"/>
              </a:ext>
            </a:extLst>
          </p:cNvPr>
          <p:cNvSpPr>
            <a:spLocks noGrp="1"/>
          </p:cNvSpPr>
          <p:nvPr/>
        </p:nvSpPr>
        <p:spPr>
          <a:xfrm>
            <a:off x="6324600" y="4343400"/>
            <a:ext cx="4495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当前实现边界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423B18B-5C7F-4837-87E4-B1F325B3CC85}"/>
              </a:ext>
            </a:extLst>
          </p:cNvPr>
          <p:cNvSpPr>
            <a:spLocks noGrp="1"/>
          </p:cNvSpPr>
          <p:nvPr/>
        </p:nvSpPr>
        <p:spPr>
          <a:xfrm>
            <a:off x="6324600" y="4705350"/>
            <a:ext cx="4495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默认共享内存模拟 IPI；NR_CPUS=2；无 idle env；env_free 可能触发多次 shootdown，逻辑优先于性能。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BDF1E30-10BE-487B-A75F-CA0F6A8406E3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SMP_DESIGN_AND_TEST_SUMMARY.md + project code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2B89BA-519A-44A3-874E-93F2738FFDB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850535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A423616-8188-4AE9-A108-EE948F5C25CD}"/>
              </a:ext>
            </a:extLst>
          </p:cNvPr>
          <p:cNvSpPr>
            <a:spLocks noGrp="1"/>
          </p:cNvSpPr>
          <p:nvPr/>
        </p:nvSpPr>
        <p:spPr>
          <a:xfrm>
            <a:off x="685800" y="647700"/>
            <a:ext cx="304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一句话总结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ED7DDB-6F8E-42E0-BF00-67F161FCCDF3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19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8FAFC"/>
                </a:solidFill>
                <a:latin typeface="Aptos Display"/>
                <a:ea typeface="Aptos Display"/>
                <a:cs typeface="Aptos Display"/>
              </a:rPr>
              <a:t>SMP 改造的核心，是系统性消除单核假设。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E81134A-1804-46DB-B77D-E37F90DDE94C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05DD34E-84AA-4570-BEB5-3E4182B97E62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per-CPU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BEEB78A-E1C5-4032-9CF1-801F0ADAAF46}"/>
              </a:ext>
            </a:extLst>
          </p:cNvPr>
          <p:cNvSpPr>
            <a:spLocks noGrp="1"/>
          </p:cNvSpPr>
          <p:nvPr/>
        </p:nvSpPr>
        <p:spPr>
          <a:xfrm>
            <a:off x="2266950" y="28194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D392740-8BC2-427D-90A8-9E4023C6BCD6}"/>
              </a:ext>
            </a:extLst>
          </p:cNvPr>
          <p:cNvSpPr>
            <a:spLocks noGrp="1"/>
          </p:cNvSpPr>
          <p:nvPr/>
        </p:nvSpPr>
        <p:spPr>
          <a:xfrm>
            <a:off x="2428875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54DD387-81C4-4A03-92D4-5849AB321102}"/>
              </a:ext>
            </a:extLst>
          </p:cNvPr>
          <p:cNvSpPr>
            <a:spLocks noGrp="1"/>
          </p:cNvSpPr>
          <p:nvPr/>
        </p:nvSpPr>
        <p:spPr>
          <a:xfrm>
            <a:off x="2562225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spinlock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FD59946-D8CC-4B69-8152-83EA53EF5878}"/>
              </a:ext>
            </a:extLst>
          </p:cNvPr>
          <p:cNvSpPr>
            <a:spLocks noGrp="1"/>
          </p:cNvSpPr>
          <p:nvPr/>
        </p:nvSpPr>
        <p:spPr>
          <a:xfrm>
            <a:off x="4010025" y="28194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B2791A9-CDA0-4310-9076-30CBE4CD2005}"/>
              </a:ext>
            </a:extLst>
          </p:cNvPr>
          <p:cNvSpPr>
            <a:spLocks noGrp="1"/>
          </p:cNvSpPr>
          <p:nvPr/>
        </p:nvSpPr>
        <p:spPr>
          <a:xfrm>
            <a:off x="4171950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56E1A7-CB1D-46CB-98BF-961F596DFBF5}"/>
              </a:ext>
            </a:extLst>
          </p:cNvPr>
          <p:cNvSpPr>
            <a:spLocks noGrp="1"/>
          </p:cNvSpPr>
          <p:nvPr/>
        </p:nvSpPr>
        <p:spPr>
          <a:xfrm>
            <a:off x="4305300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IPI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DA936D-92AF-4A7F-9593-0B22C9982425}"/>
              </a:ext>
            </a:extLst>
          </p:cNvPr>
          <p:cNvSpPr>
            <a:spLocks noGrp="1"/>
          </p:cNvSpPr>
          <p:nvPr/>
        </p:nvSpPr>
        <p:spPr>
          <a:xfrm>
            <a:off x="5753100" y="28194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34C68E2-66B1-49C3-BFF8-AA19627F9731}"/>
              </a:ext>
            </a:extLst>
          </p:cNvPr>
          <p:cNvSpPr>
            <a:spLocks noGrp="1"/>
          </p:cNvSpPr>
          <p:nvPr/>
        </p:nvSpPr>
        <p:spPr>
          <a:xfrm>
            <a:off x="5915025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60A58E-DEAA-464F-814E-0747CD6C0EAA}"/>
              </a:ext>
            </a:extLst>
          </p:cNvPr>
          <p:cNvSpPr>
            <a:spLocks noGrp="1"/>
          </p:cNvSpPr>
          <p:nvPr/>
        </p:nvSpPr>
        <p:spPr>
          <a:xfrm>
            <a:off x="6048375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TLB shootdown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B30D0E-8791-4FB4-B5CC-8B0B7D84A350}"/>
              </a:ext>
            </a:extLst>
          </p:cNvPr>
          <p:cNvSpPr>
            <a:spLocks noGrp="1"/>
          </p:cNvSpPr>
          <p:nvPr/>
        </p:nvSpPr>
        <p:spPr>
          <a:xfrm>
            <a:off x="7496175" y="28194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344BD1D-423E-4BC3-9A86-90A39B70AF3A}"/>
              </a:ext>
            </a:extLst>
          </p:cNvPr>
          <p:cNvSpPr>
            <a:spLocks noGrp="1"/>
          </p:cNvSpPr>
          <p:nvPr/>
        </p:nvSpPr>
        <p:spPr>
          <a:xfrm>
            <a:off x="7658100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C50ED9-8C78-4CF3-A29B-8618D2CC5643}"/>
              </a:ext>
            </a:extLst>
          </p:cNvPr>
          <p:cNvSpPr>
            <a:spLocks noGrp="1"/>
          </p:cNvSpPr>
          <p:nvPr/>
        </p:nvSpPr>
        <p:spPr>
          <a:xfrm>
            <a:off x="7791450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safe destroy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AB86FE-0A35-41BF-B53D-BDB5F2A44A62}"/>
              </a:ext>
            </a:extLst>
          </p:cNvPr>
          <p:cNvSpPr>
            <a:spLocks noGrp="1"/>
          </p:cNvSpPr>
          <p:nvPr/>
        </p:nvSpPr>
        <p:spPr>
          <a:xfrm>
            <a:off x="9239250" y="28194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-&gt;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0919EB7C-4254-418A-A77A-9D359D8E082B}"/>
              </a:ext>
            </a:extLst>
          </p:cNvPr>
          <p:cNvSpPr>
            <a:spLocks noGrp="1"/>
          </p:cNvSpPr>
          <p:nvPr/>
        </p:nvSpPr>
        <p:spPr>
          <a:xfrm>
            <a:off x="9401175" y="2495550"/>
            <a:ext cx="1571625" cy="876300"/>
          </a:xfrm>
          <a:prstGeom prst="roundRect">
            <a:avLst>
              <a:gd name="adj" fmla="val 8696"/>
            </a:avLst>
          </a:prstGeom>
          <a:solidFill>
            <a:srgbClr val="172033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2BB7D7-F921-404C-B1CD-7667CA2A3A00}"/>
              </a:ext>
            </a:extLst>
          </p:cNvPr>
          <p:cNvSpPr>
            <a:spLocks noGrp="1"/>
          </p:cNvSpPr>
          <p:nvPr/>
        </p:nvSpPr>
        <p:spPr>
          <a:xfrm>
            <a:off x="9534525" y="2667000"/>
            <a:ext cx="1304925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8FAF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8FAFC"/>
                </a:solidFill>
                <a:latin typeface="Aptos"/>
                <a:ea typeface="Aptos"/>
                <a:cs typeface="Aptos"/>
              </a:rPr>
              <a:t>targeted tests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76AC9A-37D1-4934-85D6-FED02A26B727}"/>
              </a:ext>
            </a:extLst>
          </p:cNvPr>
          <p:cNvSpPr>
            <a:spLocks noGrp="1"/>
          </p:cNvSpPr>
          <p:nvPr/>
        </p:nvSpPr>
        <p:spPr>
          <a:xfrm>
            <a:off x="723900" y="4095750"/>
            <a:ext cx="8763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10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从启动、异常栈、系统调用，到调度、内存和 env 生命周期，每一步都把“只有一个 CPU”的隐含前提改成了可被代码维护的 SMP invariant。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D4150AB-0E54-4669-BED1-44FA1106592E}"/>
              </a:ext>
            </a:extLst>
          </p:cNvPr>
          <p:cNvSpPr>
            <a:spLocks noGrp="1"/>
          </p:cNvSpPr>
          <p:nvPr/>
        </p:nvSpPr>
        <p:spPr>
          <a:xfrm>
            <a:off x="9715500" y="3943350"/>
            <a:ext cx="1238250" cy="1238250"/>
          </a:xfrm>
          <a:prstGeom prst="roundRect">
            <a:avLst>
              <a:gd name="adj" fmla="val 6154"/>
            </a:avLst>
          </a:prstGeom>
          <a:solidFill>
            <a:srgbClr val="0F172A"/>
          </a:solidFill>
          <a:ln w="9525">
            <a:solidFill>
              <a:srgbClr val="A3E635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9890814-F527-4853-A471-D5F28A667B8C}"/>
              </a:ext>
            </a:extLst>
          </p:cNvPr>
          <p:cNvSpPr>
            <a:spLocks noGrp="1"/>
          </p:cNvSpPr>
          <p:nvPr/>
        </p:nvSpPr>
        <p:spPr>
          <a:xfrm>
            <a:off x="10001250" y="4095750"/>
            <a:ext cx="66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4650" b="1">
                <a:solidFill>
                  <a:srgbClr val="A3E635"/>
                </a:solidFill>
                <a:latin typeface="Aptos"/>
                <a:ea typeface="Aptos"/>
                <a:cs typeface="Aptos"/>
              </a:defRPr>
            </a:pPr>
            <a:r>
              <a:rPr sz="4650" b="1">
                <a:solidFill>
                  <a:srgbClr val="A3E63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B544A88-735A-450C-AFD9-1AEF9DB5C1F4}"/>
              </a:ext>
            </a:extLst>
          </p:cNvPr>
          <p:cNvSpPr>
            <a:spLocks noGrp="1"/>
          </p:cNvSpPr>
          <p:nvPr/>
        </p:nvSpPr>
        <p:spPr>
          <a:xfrm>
            <a:off x="10001250" y="47625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CPUs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6B9F2FA-7C3C-4304-BF7E-1ADAA579717E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400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950" b="1">
                <a:solidFill>
                  <a:srgbClr val="22D3EE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2D3EE"/>
                </a:solidFill>
                <a:latin typeface="Aptos"/>
                <a:ea typeface="Aptos"/>
                <a:cs typeface="Aptos"/>
              </a:rPr>
              <a:t>谢谢，请老师提问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8027956-7783-4FC2-A9D3-1EDE912C3EEA}"/>
              </a:ext>
            </a:extLst>
          </p:cNvPr>
          <p:cNvSpPr>
            <a:spLocks noGrp="1"/>
          </p:cNvSpPr>
          <p:nvPr/>
        </p:nvSpPr>
        <p:spPr>
          <a:xfrm>
            <a:off x="685800" y="6496050"/>
            <a:ext cx="7810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75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4A3B8"/>
                </a:solidFill>
                <a:latin typeface="Aptos"/>
                <a:ea typeface="Aptos"/>
                <a:cs typeface="Aptos"/>
              </a:rPr>
              <a:t>Source: SMP_DESIGN_AND_TEST_SUMMARY.md + project code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E4126CB-D08E-47C2-9596-738805E6D81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9680409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2674</Words>
  <Application>Microsoft Office PowerPoint</Application>
  <DocSecurity>0</DocSecurity>
  <PresentationFormat>宽屏</PresentationFormat>
  <Paragraphs>461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Leozy Ventsdenye</cp:lastModifiedBy>
  <cp:revision>1</cp:revision>
  <dcterms:created xsi:type="dcterms:W3CDTF">2026-06-22T13:29:10Z</dcterms:created>
  <dcterms:modified xsi:type="dcterms:W3CDTF">2026-06-22T13:32:21Z</dcterms:modified>
</cp:coreProperties>
</file>