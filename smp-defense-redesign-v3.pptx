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fc89b22d774bea" /><Relationship Type="http://schemas.openxmlformats.org/officeDocument/2006/relationships/extended-properties" Target="/docProps/app.xml" Id="R645db922f33049cc" /><Relationship Type="http://schemas.openxmlformats.org/officeDocument/2006/relationships/officeDocument" Target="/ppt/presentation.xml" Id="R58a78a0c664045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e2b9d4da3c4dbb"/>
  </p:sldMasterIdLst>
  <p:notesMasterIdLst>
    <p:notesMasterId xmlns:r="http://schemas.openxmlformats.org/officeDocument/2006/relationships" r:id="Rfb08592e5b0b4282"/>
  </p:notesMasterIdLst>
  <p:sldIdLst>
    <p:sldId xmlns:r="http://schemas.openxmlformats.org/officeDocument/2006/relationships" id="256" r:id="R5e0c78271ed34e62"/>
    <p:sldId xmlns:r="http://schemas.openxmlformats.org/officeDocument/2006/relationships" id="257" r:id="R65558ca0fb104696"/>
    <p:sldId xmlns:r="http://schemas.openxmlformats.org/officeDocument/2006/relationships" id="258" r:id="Rf35b664e3cb84c8c"/>
    <p:sldId xmlns:r="http://schemas.openxmlformats.org/officeDocument/2006/relationships" id="259" r:id="Red08e7ef15ea4738"/>
    <p:sldId xmlns:r="http://schemas.openxmlformats.org/officeDocument/2006/relationships" id="260" r:id="Rc3d19a8c32b0493e"/>
    <p:sldId xmlns:r="http://schemas.openxmlformats.org/officeDocument/2006/relationships" id="261" r:id="R984fc57ad1e34be3"/>
    <p:sldId xmlns:r="http://schemas.openxmlformats.org/officeDocument/2006/relationships" id="262" r:id="R5628fec70229475f"/>
    <p:sldId xmlns:r="http://schemas.openxmlformats.org/officeDocument/2006/relationships" id="263" r:id="Raeedc1298ae846d4"/>
    <p:sldId xmlns:r="http://schemas.openxmlformats.org/officeDocument/2006/relationships" id="264" r:id="R489b94977e314059"/>
    <p:sldId xmlns:r="http://schemas.openxmlformats.org/officeDocument/2006/relationships" id="265" r:id="Rb28879d8b9a74763"/>
    <p:sldId xmlns:r="http://schemas.openxmlformats.org/officeDocument/2006/relationships" id="266" r:id="Reca7cc470db24210"/>
    <p:sldId xmlns:r="http://schemas.openxmlformats.org/officeDocument/2006/relationships" id="267" r:id="R0381742ce94741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3eccd5f38d4904" /><Relationship Type="http://schemas.openxmlformats.org/officeDocument/2006/relationships/slideMaster" Target="/ppt/slideMasters/slideMaster1.xml" Id="Rd7e2b9d4da3c4dbb" /><Relationship Type="http://schemas.openxmlformats.org/officeDocument/2006/relationships/notesMaster" Target="/ppt/notesMasters/notesMaster1.xml" Id="Rfb08592e5b0b4282" /><Relationship Type="http://schemas.openxmlformats.org/officeDocument/2006/relationships/presProps" Target="/ppt/presProps.xml" Id="R0e423da790aa4f15" /><Relationship Type="http://schemas.openxmlformats.org/officeDocument/2006/relationships/tableStyles" Target="/ppt/tableStyles.xml" Id="R0198224da6d34d9b" /><Relationship Type="http://schemas.openxmlformats.org/officeDocument/2006/relationships/slide" Target="/ppt/slides/slide1.xml" Id="R5e0c78271ed34e62" /><Relationship Type="http://schemas.openxmlformats.org/officeDocument/2006/relationships/slide" Target="/ppt/slides/slide2.xml" Id="R65558ca0fb104696" /><Relationship Type="http://schemas.openxmlformats.org/officeDocument/2006/relationships/slide" Target="/ppt/slides/slide3.xml" Id="Rf35b664e3cb84c8c" /><Relationship Type="http://schemas.openxmlformats.org/officeDocument/2006/relationships/slide" Target="/ppt/slides/slide4.xml" Id="Red08e7ef15ea4738" /><Relationship Type="http://schemas.openxmlformats.org/officeDocument/2006/relationships/slide" Target="/ppt/slides/slide5.xml" Id="Rc3d19a8c32b0493e" /><Relationship Type="http://schemas.openxmlformats.org/officeDocument/2006/relationships/slide" Target="/ppt/slides/slide6.xml" Id="R984fc57ad1e34be3" /><Relationship Type="http://schemas.openxmlformats.org/officeDocument/2006/relationships/slide" Target="/ppt/slides/slide7.xml" Id="R5628fec70229475f" /><Relationship Type="http://schemas.openxmlformats.org/officeDocument/2006/relationships/slide" Target="/ppt/slides/slide8.xml" Id="Raeedc1298ae846d4" /><Relationship Type="http://schemas.openxmlformats.org/officeDocument/2006/relationships/slide" Target="/ppt/slides/slide9.xml" Id="R489b94977e314059" /><Relationship Type="http://schemas.openxmlformats.org/officeDocument/2006/relationships/slide" Target="/ppt/slides/slide10.xml" Id="Rb28879d8b9a74763" /><Relationship Type="http://schemas.openxmlformats.org/officeDocument/2006/relationships/slide" Target="/ppt/slides/slide11.xml" Id="Reca7cc470db24210" /><Relationship Type="http://schemas.openxmlformats.org/officeDocument/2006/relationships/slide" Target="/ppt/slides/slide12.xml" Id="R0381742ce94741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153477e2ac49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1fb24c56b41c9" /><Relationship Type="http://schemas.openxmlformats.org/officeDocument/2006/relationships/notesMaster" Target="/ppt/notesMasters/notesMaster1.xml" Id="R3c5462a7c4ee43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18eabda5844ef7" /><Relationship Type="http://schemas.openxmlformats.org/officeDocument/2006/relationships/notesMaster" Target="/ppt/notesMasters/notesMaster1.xml" Id="Rd83c204dd49346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73fe575f58483a" /><Relationship Type="http://schemas.openxmlformats.org/officeDocument/2006/relationships/notesMaster" Target="/ppt/notesMasters/notesMaster1.xml" Id="R77220812cc2f44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fdfab99d84f2f" /><Relationship Type="http://schemas.openxmlformats.org/officeDocument/2006/relationships/notesMaster" Target="/ppt/notesMasters/notesMaster1.xml" Id="R6eb35bd0340445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a4909a2d6a47bc" /><Relationship Type="http://schemas.openxmlformats.org/officeDocument/2006/relationships/notesMaster" Target="/ppt/notesMasters/notesMaster1.xml" Id="R1079240814c64b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fb0cf5b7214ba0" /><Relationship Type="http://schemas.openxmlformats.org/officeDocument/2006/relationships/notesMaster" Target="/ppt/notesMasters/notesMaster1.xml" Id="R72fd2532121942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ce3dc553004f10" /><Relationship Type="http://schemas.openxmlformats.org/officeDocument/2006/relationships/notesMaster" Target="/ppt/notesMasters/notesMaster1.xml" Id="Rabbd1d4439e747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9af1fb839c4a50" /><Relationship Type="http://schemas.openxmlformats.org/officeDocument/2006/relationships/notesMaster" Target="/ppt/notesMasters/notesMaster1.xml" Id="R2d55679aa8bf41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475dcc78044ba1" /><Relationship Type="http://schemas.openxmlformats.org/officeDocument/2006/relationships/notesMaster" Target="/ppt/notesMasters/notesMaster1.xml" Id="R190b3eae3d0141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6ab54115fa44c8" /><Relationship Type="http://schemas.openxmlformats.org/officeDocument/2006/relationships/notesMaster" Target="/ppt/notesMasters/notesMaster1.xml" Id="Rec56981cff2f46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a853d6bae64637" /><Relationship Type="http://schemas.openxmlformats.org/officeDocument/2006/relationships/notesMaster" Target="/ppt/notesMasters/notesMaster1.xml" Id="R18261b50b07948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b4e6e768674cab" /><Relationship Type="http://schemas.openxmlformats.org/officeDocument/2006/relationships/notesMaster" Target="/ppt/notesMasters/notesMaster1.xml" Id="R6766ed905580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开场先说本项目是在单核 MOS 上做 SMP 扩展，目标不是追求完整商用内核，而是在课程约束下把启动、调度、IPI、TLB、FS 约束跑通。</a:t>
            </a:r>
          </a:p>
          <a:p xmlns:a="http://schemas.openxmlformats.org/drawingml/2006/main">
            <a:r>
              <a:t>强调本答辩重点：哪些地方没有照搬教程建议、为什么这样做、关键竞态如何处理。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这一页只讲边界：任务要求支持至少两核、IPI、SHELL、多核调度、内存同步。</a:t>
            </a:r>
          </a:p>
          <a:p xmlns:a="http://schemas.openxmlformats.org/drawingml/2006/main">
            <a:r>
              <a:t>说明 fs_serv 固定 CPU0 不是逃避用户进程多核，而是把真实 IDE/block cache/open table 集中到服务进程，普通用户进程仍能在两个 CPU 上调度并通过 IPC 请求 FS。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这里要主动承认差异，不要被问到才解释。</a:t>
            </a:r>
          </a:p>
          <a:p xmlns:a="http://schemas.openxmlformats.org/drawingml/2006/main">
            <a:r>
              <a:t>整体论点：教程给的是推荐路径而非唯一实现；本实现保留了语义目标，比如 per-CPU 状态、远程函数调用、TLB 同步，只是在 QEMU 和工程复杂度下换了实现方式。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教程里从核由主核通过 IPI_START 唤醒。本实现里 QEMU 的从核已经进入统一入口，所以更自然的做法是分流后等待 CPU0 完成基础初始化。</a:t>
            </a:r>
          </a:p>
          <a:p xmlns:a="http://schemas.openxmlformats.org/drawingml/2006/main">
            <a:r>
              <a:t>关键点是 CPU1 不清 .bss，否则会破坏 CPU0 已初始化的全局状态；并且每个 CPU 按 CPU ID 计算自己的内核栈。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重点说全局 curenv/cur_pgdir 在 SMP 下不成立，因为两个 CPU 可以同时运行不同 env、使用不同用户页目录。</a:t>
            </a:r>
          </a:p>
          <a:p xmlns:a="http://schemas.openxmlformats.org/drawingml/2006/main">
            <a:r>
              <a:t>当前保留了 curenv 旧符号但关键路径改用 cpu_curenv、cpu_cur_pgdir、cpu_kstack_top 等接口。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IPI_CALL 的语义：目标 CPU 执行一个函数并通知完成，所以是同步远程函数调用。</a:t>
            </a:r>
          </a:p>
          <a:p xmlns:a="http://schemas.openxmlformats.org/drawingml/2006/main">
            <a:r>
              <a:t>等待 ipi_done 的循环里如果本 CPU 收到 IPI，会主动 handle_ipi_irq，这是为了避免双向远程调用时双方互等。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单核只需要本地 tlb_out；SMP 下每个 CPU 都有自己的 TLB，所以页表被 CPU0 改了，CPU1 可能还缓存旧映射。</a:t>
            </a:r>
          </a:p>
          <a:p xmlns:a="http://schemas.openxmlformats.org/drawingml/2006/main">
            <a:r>
              <a:t>答辩时一定强调：page_insert/page_remove 在锁内改 PTE 和引用计数，释放 pmap_lock 后再 tlb_invalidate，避免远端 CPU 处理 IPI 时也需要 pmap_lock 造成死锁。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这一页可类比单核调度器的静态 count 在 SMP 下会被两个 CPU 共享干扰，所以移到 cpu_data[cpu].sched_count。</a:t>
            </a:r>
          </a:p>
          <a:p xmlns:a="http://schemas.openxmlformats.org/drawingml/2006/main">
            <a:r>
              <a:t>选择 env 时在锁内判断 pinned、kill_pending、running 状态，选中后在锁内写 running/cpu_id，关闭两个 CPU 同时选中同一个 env 的窗口。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这是最容易被追问的一页：为什么不能在 IPI handler 中直接 env_free。</a:t>
            </a:r>
          </a:p>
          <a:p xmlns:a="http://schemas.openxmlformats.org/drawingml/2006/main">
            <a:r>
              <a:t>答案是 env_free 会释放页表，page_remove 又触发 tlb_invalidate，tlb_invalidate 会再发 IPI。把释放放在 schedule 安全点，可以避免 IPI handler 内出现嵌套 IPI 和 ipi_done 覆盖。</a:t>
            </a:r>
          </a:p>
          <a:p xmlns:a="http://schemas.openxmlformats.org/drawingml/2006/main">
            <a:r>
              <a:t>等待远端释放时临时关本 CPU 全局中断，避免 timer 重入调度测试钩子；但循环中仍主动处理 pending IPI，避免别的 IPI 等待死锁。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FS 是本实现的工程约束：fs_serv 固定在 CPU0，普通用户程序仍可多核调度，通过 IPC 请求服务。</a:t>
            </a:r>
          </a:p>
          <a:p xmlns:a="http://schemas.openxmlformats.org/drawingml/2006/main">
            <a:r>
              <a:t>IDE PIO 操作顺序性很强，因此用户态 ide_lock 保护完整读写序列，内核 dev syscall 也对 console 和 IDE MMIO 分别加锁。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这页用于展示实现不是一次写完，而是围绕实际竞态迭代修复。</a:t>
            </a:r>
          </a:p>
          <a:p xmlns:a="http://schemas.openxmlformats.org/drawingml/2006/main">
            <a:r>
              <a:t>可以把 lab6_7 当作重点案例：双向远端销毁暴露了 timer reentry 和嵌套 IPI 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收尾时把所有点重新扣回任务要求：至少两核、IPI、调度、内存/TLB、文件系统和 shell。</a:t>
            </a:r>
          </a:p>
          <a:p xmlns:a="http://schemas.openxmlformats.org/drawingml/2006/main">
            <a:r>
              <a:t>如果被问不足：默认 IPI 是共享内存模拟、pmap_lock 粗粒度、env_free shootdown 没做批量优化，后续可换硬件 IPI、细粒度页表锁或批量 TLB shootdown。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869e52c274e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01513fa1a4fdc" /><Relationship Type="http://schemas.openxmlformats.org/officeDocument/2006/relationships/slideLayout" Target="/ppt/slideLayouts/slideLayout1.xml" Id="R8f038eaab46142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038eaab46142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52db3b1454529" /><Relationship Type="http://schemas.openxmlformats.org/officeDocument/2006/relationships/notesSlide" Target="/ppt/notesSlides/notesSlide1.xml" Id="Rb4e71ff41aa44a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0ef2228a44fcb" /><Relationship Type="http://schemas.openxmlformats.org/officeDocument/2006/relationships/notesSlide" Target="/ppt/notesSlides/notesSlide2.xml" Id="Rec907d05044e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fb2892bb047be" /><Relationship Type="http://schemas.openxmlformats.org/officeDocument/2006/relationships/notesSlide" Target="/ppt/notesSlides/notesSlide3.xml" Id="R58bcbfd40c2145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e7a72361e42e9" /><Relationship Type="http://schemas.openxmlformats.org/officeDocument/2006/relationships/notesSlide" Target="/ppt/notesSlides/notesSlide4.xml" Id="Rd4f31ec2c675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380901a7a43c1" /><Relationship Type="http://schemas.openxmlformats.org/officeDocument/2006/relationships/notesSlide" Target="/ppt/notesSlides/notesSlide5.xml" Id="Rf8c77104128744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290620c364601" /><Relationship Type="http://schemas.openxmlformats.org/officeDocument/2006/relationships/notesSlide" Target="/ppt/notesSlides/notesSlide6.xml" Id="R42cc97ed72e549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753d9d0294258" /><Relationship Type="http://schemas.openxmlformats.org/officeDocument/2006/relationships/notesSlide" Target="/ppt/notesSlides/notesSlide7.xml" Id="R5b1133f5444540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3c375026d4a94" /><Relationship Type="http://schemas.openxmlformats.org/officeDocument/2006/relationships/notesSlide" Target="/ppt/notesSlides/notesSlide8.xml" Id="R5148081334ac4f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0ded95a3848aa" /><Relationship Type="http://schemas.openxmlformats.org/officeDocument/2006/relationships/notesSlide" Target="/ppt/notesSlides/notesSlide9.xml" Id="R7cd6270d717146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1cec46c87465c" /><Relationship Type="http://schemas.openxmlformats.org/officeDocument/2006/relationships/notesSlide" Target="/ppt/notesSlides/notesSlide10.xml" Id="R619f8dfb324448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b2496fb7e4985" /><Relationship Type="http://schemas.openxmlformats.org/officeDocument/2006/relationships/notesSlide" Target="/ppt/notesSlides/notesSlide11.xml" Id="R6270fec2531e42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e8181354f4422" /><Relationship Type="http://schemas.openxmlformats.org/officeDocument/2006/relationships/notesSlide" Target="/ppt/notesSlides/notesSlide12.xml" Id="Rbcd23db7c6d5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AAB134-1FBD-47F9-B6CF-7F8892C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MOS SMP 多核移植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A8839-FCA1-4C15-B66A-0744B4E8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实现路线、教程差异与关键代码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13D1D-A938-48B5-9286-AFAAD138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MIPS 24Kc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A86F5-B0F1-4B79-ABA8-2D0D71EE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480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QEMU Malta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6F848-3BA3-443A-8A24-4B9DF73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48000"/>
            <a:ext cx="1571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vCPU SMP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39F7E-93BB-4304-A37D-3616C48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0237E-9E59-4657-AD23-8035A4EE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全局初始化 / 调度启动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2C702-25C2-4613-A7BF-61204581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FE085-666D-4693-A15E-B9348FFB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等待栅栏 / 从核上线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81BE0-AB7D-417B-873F-2B680F6A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95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IPI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4DDB9-4F6E-4121-AF87-E2C9EE99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291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远程函数调用 / TLB 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C90EF-70DE-4C39-ABAC-9D75C052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EF437-5B85-4159-A60B-82EE573B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764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4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SMP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CC934-3AD4-48AD-A662-3B00B1DF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per-CPU 状态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mailbox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shootdown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 env 销毁</a:t>
            </a:r>
          </a:p>
        </p:txBody>
      </p:sp>
    </p:spTree>
    <p:extLst>
      <p:ext uri="{BB962C8B-B14F-4D97-AF65-F5344CB8AC3E}">
        <p14:creationId xmlns:p14="http://schemas.microsoft.com/office/powerpoint/2010/main" val="1505023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A18F86-FEC3-4428-891A-819E6F55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AC12C-3586-410C-8A7C-AA260E4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任务目标与实现边界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3B29-8FFD-4789-B559-78331D56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266A7-CFEA-46C5-85DE-EA92E324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QEMU vCPU：-smp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0E122-A8AC-4490-82C4-F79BD0B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478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0F0B4-69CB-43F3-A946-B36AB3E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81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共享内核镜像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6D3DB-0049-4F2E-92A7-177477C5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478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19C04-DE40-40CB-BC50-835576D0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普通 env 多核调度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A38AD-5277-4335-83E3-9C676FE8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8C43F-BF66-48C5-AB1A-B7DCF2C1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fs_serv 固定运行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8DDF7-E81D-48EA-AE61-5867C157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buNone/>
              <a:def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已覆盖：</a:t>
            </a:r>
            <a:r>
              <a: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从核上线、IPI mailbox、TLB shootdown、调度互斥、SHELL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刻意约束：</a:t>
            </a:r>
            <a:r>
              <a: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文件系统服务固定 CPU0，降低块设备并发复杂度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平台适配：</a:t>
            </a:r>
            <a:r>
              <a:rPr sz="17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默认共享内存模拟 IPI，保留 MMIO 分支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62812-037C-4108-8C5E-5E7A769D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7429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474F6-C694-476E-9EAE-E8AC7775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Makefile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E34C2-6BB9-451A-B07E-1D3EA304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626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QEMU_FLAGS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+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2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24Kc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64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\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         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nographic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malta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no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8A1AA-6CA3-4FCF-A34C-CA2C0D36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86AD6-2D03-49C9-822A-C439D973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02</a:t>
            </a:r>
          </a:p>
        </p:txBody>
      </p:sp>
    </p:spTree>
    <p:extLst>
      <p:ext uri="{BB962C8B-B14F-4D97-AF65-F5344CB8AC3E}">
        <p14:creationId xmlns:p14="http://schemas.microsoft.com/office/powerpoint/2010/main" val="1733060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A113A-7C5B-42D2-B6BC-A456BDD8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A673B-58D2-4263-A80C-971341B2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与教程路线的主要差异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242E0-0BFC-455F-9761-85E69081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教程建议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C854F-FCBB-4384-A6AD-87AD97E7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95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8A7F6-774B-4CFD-969F-053C50A3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答辩重点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F090C-441E-42F1-A968-355F8FD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97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2291E-6FA3-49B0-87C7-A3B3B180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$gp 保存 per-CPU 指针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BFBEE-BD74-45A9-8299-4FD2092C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全局 cpu_data[NR_CPUS] + cpu_id()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40797-3C76-4E94-B311-A3C1CDF7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955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不占 ABI 敏感寄存器，入口维护更少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D68E8-40E7-4619-BE19-8D7DE01C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2F599-81A0-4202-9E1B-432E8BBC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IPI_START 唤醒从核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5FEC4-AAF9-476C-AFA2-A5F5C790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051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从核已进入 _start 后等待 smp_boot_ready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7DAFB-281B-41A2-9E1F-E2572656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适配本地 QEMU Malta/24Kc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1180B7-DCCF-404B-81D0-5D04AE8A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D7FC6-8C59-49E9-A479-77085B42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slave_exc_gen_entry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59B10-02CE-4F83-80A0-49CAF011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所有 CPU 共用 exc_gen_entry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71B0F-6CC5-4AB5-90AB-D96EDC8C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栈和状态按 EBase/cpu_data 分流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03ED1-EBF0-409C-A2DD-116B448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547FB-619A-4335-BD73-EEC2072F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CAS/无锁页表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12455-5A49-4DCF-86E5-7609CF37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243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pmap_lock 粗粒度保护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ECE86-E3E6-4AA0-8071-18E806E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正确性优先，TLB 广播在锁外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99E94-DE40-45B7-BEE2-6D4EFB7F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A5D0B-B269-4108-BDBC-90B04B7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全硬件 IPI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D7D8D-4298-4DED-8E33-DBA2C62B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339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默认共享内存 pending + mailbox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167A1-1F02-4A56-820F-AC8470F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语义保留，MMIO 分支可切换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72317-66BB-4634-A1D0-C746A1B5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FFA5E-2658-4EB4-8386-5F3E516D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03</a:t>
            </a:r>
          </a:p>
        </p:txBody>
      </p:sp>
    </p:spTree>
    <p:extLst>
      <p:ext uri="{BB962C8B-B14F-4D97-AF65-F5344CB8AC3E}">
        <p14:creationId xmlns:p14="http://schemas.microsoft.com/office/powerpoint/2010/main" val="818834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174F6-31A5-4D02-A233-64AD4E1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70701-3D69-4365-ABFB-D24C8A8B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启动路径：从 IPI_START 改为启动栅栏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4C237-0F1B-41A2-A03C-5F943159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所有 CPU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进入 _start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34571-0CA2-44AB-96FD-89ED8C3A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EBase 低位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判断 CPU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A9716-056A-4D5E-8518-CB371092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3525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 .bss / smp_init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8BC2F-A4FF-4F9E-816E-DBA0345F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等待 smp_boot_ready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730ED-EE92-44FB-B116-29E3BCA8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mips_init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创建 env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88490-A3ED-4F8B-8EA3-9CDDF60A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7F3"/>
          </a:solidFill>
          <a:ln xmlns:a="http://schemas.openxmlformats.org/drawingml/2006/main" w="14288">
            <a:solidFill>
              <a:srgbClr val="DB2777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独立栈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secondary_start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628900" y="22955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143500" y="1743075"/>
            <a:ext cx="647700" cy="552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143500" y="2295525"/>
            <a:ext cx="647700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981950" y="174307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981950" y="311467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15527-0F1F-4C27-9D19-94974E2D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9525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A2B1A-7067-4B79-8CAE-F5277D90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init/start.S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DF91A-B30B-40BA-A779-A4A8BDE8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914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mfc0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CP0_EBASE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andi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0x03ff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bnez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secondary_wait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secondary_wait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: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bne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t2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t3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1b</a:t>
            </a:r>
          </a:p>
          <a:p xmlns:a="http://schemas.openxmlformats.org/drawingml/2006/main">
            <a:pPr algn="l">
              <a:lnSpc>
                <a:spcPct val="86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j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smp_secondary_start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EB5D1-0112-49E7-8C74-C3812FF5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F8C72-1179-4B24-8B2B-CE882C0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04</a:t>
            </a:r>
          </a:p>
        </p:txBody>
      </p:sp>
    </p:spTree>
    <p:extLst>
      <p:ext uri="{BB962C8B-B14F-4D97-AF65-F5344CB8AC3E}">
        <p14:creationId xmlns:p14="http://schemas.microsoft.com/office/powerpoint/2010/main" val="1806235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57D50-5786-4366-9E53-17BF6FC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841D0-AA3A-4149-A37E-C9D95326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每核状态：不用 $gp，也能 per-CPU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3F674-EBAC-4040-985C-BABB9F9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000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教程：</a:t>
            </a: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DECLARE_LOCAL_DATA_PTR 绑定 $gp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实现：</a:t>
            </a: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CP0 EBase -&gt; cpu_id() -&gt; cpu_data[cpu]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收益：</a:t>
            </a: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汇编入口和异常路径不用维护 $gp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EC06C-28DD-465D-AF29-0A35E61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24000"/>
            <a:ext cx="58102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B2D98-B419-4BD5-80FD-72A38536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include/smp.h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BC6F7-B84F-41C7-99D9-96C5093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5429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struct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cpu_local_data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cpu_id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struct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*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curenv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Pde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*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cur_pgdir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u_long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kernel_stack_top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sched_count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64126-D138-45E0-BE09-3D077DB5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33800"/>
            <a:ext cx="5810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62E1B-1728-42C8-B843-07B5EFD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71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kern/smp.c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893D1-7E4D-44F2-AC7A-774005AD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7195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cpu_id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void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ebase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__asm__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volatile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86EFAC"/>
                </a:solidFill>
                <a:latin typeface="Cascadia Mono"/>
                <a:ea typeface="Cascadia Mono"/>
                <a:cs typeface="Cascadia Mono"/>
              </a:rPr>
              <a:t>"mfc0 %0, $15, 1"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: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86EFAC"/>
                </a:solidFill>
                <a:latin typeface="Cascadia Mono"/>
                <a:ea typeface="Cascadia Mono"/>
                <a:cs typeface="Cascadia Mono"/>
              </a:rPr>
              <a:t>"=r"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ebase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ebase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0x3ff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return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ebase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&gt;=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NR_CPUS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?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: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ebase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F2E7E-E9AB-4234-98D5-B9FC6AEC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curenv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4CA3F-A9F9-4FC7-8CEB-EEA0E85C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133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cur_pgdir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77ED4-7671-4E3D-B76D-E8D1C117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585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sched_count</a:t>
            </a:r>
          </a:p>
        </p:txBody>
      </p:sp>
      <p:cxnSp>
        <p:nvCxnSpPr>
          <p:cNvPr id="29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790700" y="4438650"/>
            <a:ext cx="962025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dash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2752725" y="4438650"/>
            <a:ext cx="771525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dash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E211E-4978-4D54-ABFF-6E4F5B46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1F146-0602-4972-85C6-DFB77204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05</a:t>
            </a:r>
          </a:p>
        </p:txBody>
      </p:sp>
    </p:spTree>
    <p:extLst>
      <p:ext uri="{BB962C8B-B14F-4D97-AF65-F5344CB8AC3E}">
        <p14:creationId xmlns:p14="http://schemas.microsoft.com/office/powerpoint/2010/main" val="8482907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559C97-48A2-43EE-8C10-626993F9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9795E-9399-4F10-9A1E-64D1F81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mailbox：同步远程函数调用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26592-D44F-4076-93E9-5DAAC04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A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发起调用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34AF0-1807-4CAC-A444-23ECD9E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76450"/>
            <a:ext cx="171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mailbox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fn/arg0/arg1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27143-4D82-44C4-B954-FAA171A5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76450"/>
            <a:ext cx="171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IPI_CALL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pending 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33C70-1275-441F-BE9C-5EE6ECB2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000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 B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handle_ipi_irq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55724-8D93-4129-9981-A4DBF8A8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ipi_done = 1</a:t>
            </a:r>
          </a:p>
        </p:txBody>
      </p: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81250" y="2428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857750" y="2428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34250" y="2428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096375" y="27813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619250" y="2781300"/>
            <a:ext cx="6477000" cy="7905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7ADA1-68CA-4D34-9034-3847C600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933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F26D2-2B28-4C97-9732-94120827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kern/smp.c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2E1DA-F637-4EA4-82F9-9C43F375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895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spin_lock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ipi_mailbox_lock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ipi_done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ipi_mailbox_write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IPI_MBOX_FN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fn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ipi_send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IPI_CALL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ipi_wait_done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spin_unlock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ipi_mailbox_lock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693BE-7AD3-4BDC-B49C-4BD7E90A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14538-31BC-4D25-A21B-3969C40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06</a:t>
            </a:r>
          </a:p>
        </p:txBody>
      </p:sp>
    </p:spTree>
    <p:extLst>
      <p:ext uri="{BB962C8B-B14F-4D97-AF65-F5344CB8AC3E}">
        <p14:creationId xmlns:p14="http://schemas.microsoft.com/office/powerpoint/2010/main" val="2080926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F8F9AD-9BAF-47A0-9CA3-9175E742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9CF7F-269E-4731-B69D-EAB94A2C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shootdown：页表修改后广播失效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A4C6C-48EA-4B91-8806-8B43F556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pmap_lock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修改 PTE/ref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3A123-86A4-4813-94F7-097F037F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137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释放锁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B8325-9C19-4D9A-AE39-E5D9CEC8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24100"/>
            <a:ext cx="152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本地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AD7FC-BC06-40CF-B871-2197B28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广播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remote 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0217D-CC27-46A7-A97A-FEEFD1E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2410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TLB out</a:t>
            </a:r>
          </a:p>
        </p:txBody>
      </p: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24150" y="2695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762500" y="2695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53250" y="2695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429750" y="2695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DCA8D-9B30-4910-83F6-3C051C32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关键：TLB 广播不能放在 pmap_lock 内等待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39E96-89F5-4710-AEFE-24DC908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382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14851-BD23-4DE3-8FE9-DEFBBD23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767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kern/tlbex.c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9B5A8-BF72-4E10-B909-951CB6A6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81550"/>
            <a:ext cx="800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tlb_invalidate_local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asid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va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if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smp_boot_ready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472B6"/>
                </a:solidFill>
                <a:latin typeface="Cascadia Mono"/>
                <a:ea typeface="Cascadia Mono"/>
                <a:cs typeface="Cascadia Mono"/>
              </a:rPr>
              <a:t>SMP_BOOT_READY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smp_group_function_call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tlb_invalidate_local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asid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va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E1052-B062-4448-975B-765DB18F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1CA91B-CE19-4B59-9D91-BDB2B29B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07</a:t>
            </a:r>
          </a:p>
        </p:txBody>
      </p:sp>
    </p:spTree>
    <p:extLst>
      <p:ext uri="{BB962C8B-B14F-4D97-AF65-F5344CB8AC3E}">
        <p14:creationId xmlns:p14="http://schemas.microsoft.com/office/powerpoint/2010/main" val="1118991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6F6A1-EFA2-4110-82C3-2129BD6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6C06B-E70D-4E88-8E9C-6C414458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调度：一个 env 不能同时跑在两个 CPU 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28023-9B2D-4723-9B1E-91E0B393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env_sched_lock 保护全局 runnable 队列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env_running/env_cpu_id 表示正在运行位置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env_pinned_cpu 支持 fs_serv 固定 CPU0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sched_count 放入 cpu_data，时间片每核独立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E3B95-FBA4-45E9-9F8D-BBF6868A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57150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A2C3F-8471-41C8-BA12-431E56F3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kern/sched.c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DA31E-9009-4640-BFCD-A41EEE26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if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pinned_ok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!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env_kill_pending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env_running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|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|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env_cpu_id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goto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found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.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.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.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env_running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1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env_cpu_id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83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cpu_data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[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cpu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]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.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sched_count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count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DC4DB-7470-41C1-9E51-D41FB6E5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env_sched_list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DB866-0278-4305-985D-319CA37F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8145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293B2-35C2-46DF-B0D3-8514EF46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292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62331-8287-4A64-AF84-45E3F5F4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 A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running=1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08794-0195-41E1-99CC-371E308D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 B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running=1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67050" y="4238625"/>
            <a:ext cx="1162050" cy="438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67050" y="4676775"/>
            <a:ext cx="1162050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372100" y="42386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372100" y="5286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82101-6F24-4364-8B8D-110DC1D7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21A38-6B70-4717-BC3D-A2071494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08</a:t>
            </a:r>
          </a:p>
        </p:txBody>
      </p:sp>
    </p:spTree>
    <p:extLst>
      <p:ext uri="{BB962C8B-B14F-4D97-AF65-F5344CB8AC3E}">
        <p14:creationId xmlns:p14="http://schemas.microsoft.com/office/powerpoint/2010/main" val="11100492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FC873-4035-413F-8951-E49B4DEB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C6402-AA07-4C06-B0B5-15291C68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 env 销毁：IPI 只 poke，不直接 free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0A3FD-D253-4B9D-80B7-F78B2416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71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env_destroy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EF77C-B943-4E7A-BCB4-1756E38D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锁内标记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kill_pending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8330A-AF87-4ADE-BA0A-AB65BA27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00250"/>
            <a:ext cx="1809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poke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不释放资源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0ABA8-291B-4821-850C-E9A5B35D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CPU1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schedule 安全点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29959-CD59-4B87-AB42-F5CC5F5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本地 env_free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kill_done</a:t>
            </a:r>
          </a:p>
        </p:txBody>
      </p:sp>
      <p:cxnSp>
        <p:nvCxnSpPr>
          <p:cNvPr id="2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514600" y="2343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86350" y="2343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58100" y="2343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467850" y="26860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657350" y="2686050"/>
            <a:ext cx="6762750" cy="9906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530B4-E730-4872-AFE4-A187662B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避免嵌套链：IPI handler -&gt; env_free -&gt; page_remove -&gt; tlb_invalidate -&gt; IPI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4AA09-A2E1-40B8-995D-8665B87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89535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23A44-5513-4038-8165-3E3AA03C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kern/env.c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76F0E-1DFB-43C7-8975-C2C745B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u_int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status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env_irq_save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smp_group_function_call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env_remote_kill_poke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envid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while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env_id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envid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!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env_kill_done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handle_ipi_irq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lnSpc>
                <a:spcPct val="78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env_irq_restore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status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6B891-0E01-4B85-BCA5-7240EFD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9C076-E747-4E9C-8C28-8B3289B3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09</a:t>
            </a:r>
          </a:p>
        </p:txBody>
      </p:sp>
    </p:spTree>
    <p:extLst>
      <p:ext uri="{BB962C8B-B14F-4D97-AF65-F5344CB8AC3E}">
        <p14:creationId xmlns:p14="http://schemas.microsoft.com/office/powerpoint/2010/main" val="1667178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92682-A597-48A9-99C2-A5BF7E26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83A54-7488-4184-8EFA-D696B0B7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文件系统与设备：先集中，再加锁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3FD20-E158-442F-B9E7-940DD2F6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普通用户进程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CPU0 / CPU1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0EDC1-111C-4AFA-8722-7C229E2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1428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IPC 请求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4C527-6561-45F6-BBB5-3EB90352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fs_serv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 CPU0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C2763-5771-4412-9FFB-268E2C02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3835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IDE / console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锁保护 MMIO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42887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429250" y="242887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058150" y="242887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4906C-205C-4547-8830-1E60100A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9715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CFD2E-0A9A-46EB-A2BB-3251A5B2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kern/env.c / fs/ide.c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5CA16-66B8-42FD-817A-89EB44F9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76700"/>
            <a:ext cx="933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60A5FA"/>
                </a:solidFill>
                <a:latin typeface="Cascadia Mono"/>
                <a:ea typeface="Cascadia Mono"/>
                <a:cs typeface="Cascadia Mono"/>
              </a:rPr>
              <a:t>if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strcmp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name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,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86EFAC"/>
                </a:solidFill>
                <a:latin typeface="Cascadia Mono"/>
                <a:ea typeface="Cascadia Mono"/>
                <a:cs typeface="Cascadia Mono"/>
              </a:rPr>
              <a:t>"fs_serv"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  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-&gt;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env_pinned_cpu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0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>
              <a:buNone/>
            </a:pPr>
          </a:p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user_spin_lock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ide_lock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94A3B8"/>
                </a:solidFill>
                <a:latin typeface="Cascadia Mono"/>
                <a:ea typeface="Cascadia Mono"/>
                <a:cs typeface="Cascadia Mono"/>
              </a:rPr>
              <a:t>// IDE PIO sequence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user_spin_unlock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(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&amp;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ide_lock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)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CD1EC-590B-4FD0-9487-3FADD789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340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4" indent="-14" algn="l">
              <a:lnSpc>
                <a:spcPct val="112000"/>
              </a:lnSpc>
              <a:buNone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不是禁止 CPU1 用户进程访问文件，而是把真实文件服务集中在 CPU0</a:t>
            </a:r>
          </a:p>
          <a:p xmlns:a="http://schemas.openxmlformats.org/drawingml/2006/main">
            <a:pPr marL="24" indent="-14" algn="l">
              <a:lnSpc>
                <a:spcPct val="112000"/>
              </a:lnSpc>
              <a:buNone/>
              <a:def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console/IDE 直接 syscall 路径也有内核锁保护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4CAB3-0920-4B84-88B5-D85D8AA8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337AF-0EB1-41A8-BA4C-60849CD9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10</a:t>
            </a:r>
          </a:p>
        </p:txBody>
      </p:sp>
    </p:spTree>
    <p:extLst>
      <p:ext uri="{BB962C8B-B14F-4D97-AF65-F5344CB8AC3E}">
        <p14:creationId xmlns:p14="http://schemas.microsoft.com/office/powerpoint/2010/main" val="5577459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EAF42-E028-4FB5-8F17-A8233F10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81AB5-6BB1-4F3E-8F0A-FFD4E1D0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测试驱动修复的几个竞态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FF8D-1B30-431D-8ABE-B7587FB7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C8EC9-200B-4EC9-8192-55A9E60D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93A82-E8DE-4DB2-8D14-327F482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52987-CCEE-4944-A08E-ACB8AA7A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90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612FC-3996-4871-A0F4-D9578ABE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远端运行 env 被 destroy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743E9-6AA2-44D5-8E11-E268B2FC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384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kill_pending + 目标 CPU 本地 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E7BF1-ACEA-485C-9FAF-85F1FDE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lab6_5 / lab6_6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02ED9-B3C2-4F0F-BBFC-3F13031E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56DEA-7C5C-45F2-9316-ED9B2E5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IPI handler 直接 free 嵌套 IPI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5BF41-17C4-4B0E-A307-D00320B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384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handler 只 poke，释放放 schedule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79CC1-B7CD-4ED2-810C-6617471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lab6_7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158D8-C408-4605-B979-3B6EABAE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898B4-C87A-4389-AAF1-F0818034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等待远端销毁被 timer 重入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24F9A-7BBF-4C6C-ABC5-C443CA80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384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等待期间临时关 STATUS_IE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5D501-78BC-4A02-98C8-F1A0BB7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双向 destroy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848B1-C548-408F-AFF6-606B0D47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A816E-641B-4F90-BEEE-EB8E843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IPC 唤醒过早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CAE68-9B3A-41BD-9789-5A0F090C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05250"/>
            <a:ext cx="384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先完成 page_insert，再设 RUNNABLE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89024-301D-41A6-878F-16A4CD5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052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IPC + shell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93378-06F9-46AC-9BB1-80E73EB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EE0E2-7456-4973-B5DD-44C02D9B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从核过早调度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1F59B-1346-4884-B4FE-A536E9F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384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timer_schedule_ready 栅栏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6923CB-2FA5-47D5-A153-F570744C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[1] slave online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9FA55-0378-4E2E-AFFA-CEA7026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0"/>
            <a:ext cx="8191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0407A-A763-44BF-8515-6E51FBA6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验证入口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86D8F1-EFF0-4113-B408-61DDBC42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make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-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test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lab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=</a:t>
            </a:r>
            <a:r>
              <a:rPr sz="1200" b="0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6_2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make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run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sh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 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testshell</a:t>
            </a:r>
            <a:r>
              <a:rPr sz="1200" b="0">
                <a:solidFill>
                  <a:srgbClr val="CBD5E1"/>
                </a:solidFill>
                <a:latin typeface="Cascadia Mono"/>
                <a:ea typeface="Cascadia Mono"/>
                <a:cs typeface="Cascadia Mono"/>
              </a:rPr>
              <a:t>.</a:t>
            </a:r>
            <a:r>
              <a:rPr sz="1200" b="0">
                <a:solidFill>
                  <a:srgbClr val="D6E3F0"/>
                </a:solidFill>
                <a:latin typeface="Cascadia Mono"/>
                <a:ea typeface="Cascadia Mono"/>
                <a:cs typeface="Cascadia Mono"/>
              </a:rPr>
              <a:t>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7A208-D223-44F9-A06F-17F28F7D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C5DA0-24BC-45B9-96B9-A1D26B10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11</a:t>
            </a:r>
          </a:p>
        </p:txBody>
      </p:sp>
    </p:spTree>
    <p:extLst>
      <p:ext uri="{BB962C8B-B14F-4D97-AF65-F5344CB8AC3E}">
        <p14:creationId xmlns:p14="http://schemas.microsoft.com/office/powerpoint/2010/main" val="12761523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E09BAE-4D64-4A0B-9DFB-570DFABB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MOS SMP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04DDA-A72E-416F-8842-6ECDF45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总结：实现语义完整，路线做了平台化取舍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4FE8B-D07D-4A6E-B55B-5F4ACE54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876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SMP 基础：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两核启动、独立栈、per-CPU curenv/pgdir/time slice</a:t>
            </a:r>
          </a:p>
          <a:p xmlns:a="http://schemas.openxmlformats.org/drawingml/2006/main"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同步核心：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spinlock + mailbox IPI + TLB shootdown</a:t>
            </a:r>
          </a:p>
          <a:p xmlns:a="http://schemas.openxmlformats.org/drawingml/2006/main"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调度安全：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env_running/env_cpu_id/kill_pending 关闭关键竞态</a:t>
            </a:r>
          </a:p>
          <a:p xmlns:a="http://schemas.openxmlformats.org/drawingml/2006/main">
            <a:pPr marL="24" indent="-14" algn="l">
              <a:lnSpc>
                <a:spcPct val="124000"/>
              </a:lnSpc>
              <a:buNone/>
              <a:def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工程边界：</a:t>
            </a:r>
            <a:r>
              <a:rPr sz="2025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fs_serv 固定 CPU0，设备访问串行化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C6737-C11F-4653-A349-92163D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CE233-050D-4F8A-98D4-7A1991ED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答辩主线：不是照搬教程，而是在保持 SMP 语义的前提下适配 QEMU 平台与课程内核复杂度。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033F9-437C-4380-A6BA-60D33CDE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C68C3-E452-41E4-8FF7-9BDD6A4E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SMP 多核移植实现答辩 / 12</a:t>
            </a:r>
          </a:p>
        </p:txBody>
      </p:sp>
    </p:spTree>
    <p:extLst>
      <p:ext uri="{BB962C8B-B14F-4D97-AF65-F5344CB8AC3E}">
        <p14:creationId xmlns:p14="http://schemas.microsoft.com/office/powerpoint/2010/main" val="851834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2026-06-27T12:22:50.0290000Z</dcterms:created>
  <dcterms:modified xsi:type="dcterms:W3CDTF">2026-06-27T12:22:50.0290000Z</dcterms:modified>
</coreProperties>
</file>